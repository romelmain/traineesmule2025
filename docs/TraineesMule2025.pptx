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svg" ContentType="image/svg+xml"/>
  <Override PartName="/ppt/media/image16.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3.svg" ContentType="image/svg+xml"/>
  <Override PartName="/ppt/media/image25.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Lst>
  <p:notesMasterIdLst>
    <p:notesMasterId r:id="rId39"/>
  </p:notesMasterIdLst>
  <p:sldIdLst>
    <p:sldId id="256" r:id="rId36"/>
    <p:sldId id="260" r:id="rId37"/>
    <p:sldId id="257" r:id="rId38"/>
    <p:sldId id="261" r:id="rId40"/>
    <p:sldId id="265" r:id="rId41"/>
    <p:sldId id="266" r:id="rId42"/>
    <p:sldId id="267" r:id="rId43"/>
    <p:sldId id="268" r:id="rId44"/>
    <p:sldId id="269" r:id="rId45"/>
    <p:sldId id="270" r:id="rId46"/>
    <p:sldId id="271" r:id="rId47"/>
    <p:sldId id="274" r:id="rId48"/>
    <p:sldId id="276" r:id="rId49"/>
    <p:sldId id="275" r:id="rId50"/>
    <p:sldId id="278" r:id="rId51"/>
    <p:sldId id="279" r:id="rId52"/>
    <p:sldId id="280" r:id="rId53"/>
    <p:sldId id="281" r:id="rId54"/>
    <p:sldId id="282" r:id="rId55"/>
    <p:sldId id="283" r:id="rId56"/>
    <p:sldId id="284" r:id="rId57"/>
    <p:sldId id="285" r:id="rId58"/>
    <p:sldId id="286" r:id="rId59"/>
    <p:sldId id="287" r:id="rId60"/>
    <p:sldId id="288" r:id="rId61"/>
    <p:sldId id="290" r:id="rId62"/>
    <p:sldId id="291" r:id="rId63"/>
    <p:sldId id="292" r:id="rId64"/>
    <p:sldId id="293" r:id="rId65"/>
    <p:sldId id="295" r:id="rId66"/>
    <p:sldId id="294" r:id="rId67"/>
    <p:sldId id="298" r:id="rId68"/>
    <p:sldId id="299" r:id="rId69"/>
    <p:sldId id="300" r:id="rId70"/>
    <p:sldId id="301" r:id="rId71"/>
    <p:sldId id="302" r:id="rId72"/>
    <p:sldId id="304" r:id="rId73"/>
    <p:sldId id="305" r:id="rId74"/>
    <p:sldId id="306" r:id="rId75"/>
    <p:sldId id="307" r:id="rId76"/>
    <p:sldId id="308" r:id="rId77"/>
    <p:sldId id="309" r:id="rId78"/>
    <p:sldId id="310" r:id="rId79"/>
    <p:sldId id="311" r:id="rId8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52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93"/>
    <p:restoredTop sz="90275"/>
  </p:normalViewPr>
  <p:slideViewPr>
    <p:cSldViewPr snapToGrid="0">
      <p:cViewPr>
        <p:scale>
          <a:sx n="120" d="100"/>
          <a:sy n="120" d="100"/>
        </p:scale>
        <p:origin x="1800" y="600"/>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slide" Target="slides/slide44.xml"/><Relationship Id="rId8" Type="http://schemas.openxmlformats.org/officeDocument/2006/relationships/slideMaster" Target="slideMasters/slideMaster7.xml"/><Relationship Id="rId79" Type="http://schemas.openxmlformats.org/officeDocument/2006/relationships/slide" Target="slides/slide43.xml"/><Relationship Id="rId78" Type="http://schemas.openxmlformats.org/officeDocument/2006/relationships/slide" Target="slides/slide42.xml"/><Relationship Id="rId77" Type="http://schemas.openxmlformats.org/officeDocument/2006/relationships/slide" Target="slides/slide41.xml"/><Relationship Id="rId76" Type="http://schemas.openxmlformats.org/officeDocument/2006/relationships/slide" Target="slides/slide40.xml"/><Relationship Id="rId75" Type="http://schemas.openxmlformats.org/officeDocument/2006/relationships/slide" Target="slides/slide39.xml"/><Relationship Id="rId74" Type="http://schemas.openxmlformats.org/officeDocument/2006/relationships/slide" Target="slides/slide38.xml"/><Relationship Id="rId73" Type="http://schemas.openxmlformats.org/officeDocument/2006/relationships/slide" Target="slides/slide37.xml"/><Relationship Id="rId72" Type="http://schemas.openxmlformats.org/officeDocument/2006/relationships/slide" Target="slides/slide36.xml"/><Relationship Id="rId71" Type="http://schemas.openxmlformats.org/officeDocument/2006/relationships/slide" Target="slides/slide35.xml"/><Relationship Id="rId70" Type="http://schemas.openxmlformats.org/officeDocument/2006/relationships/slide" Target="slides/slide34.xml"/><Relationship Id="rId7" Type="http://schemas.openxmlformats.org/officeDocument/2006/relationships/slideMaster" Target="slideMasters/slideMaster6.xml"/><Relationship Id="rId69" Type="http://schemas.openxmlformats.org/officeDocument/2006/relationships/slide" Target="slides/slide33.xml"/><Relationship Id="rId68" Type="http://schemas.openxmlformats.org/officeDocument/2006/relationships/slide" Target="slides/slide32.xml"/><Relationship Id="rId67" Type="http://schemas.openxmlformats.org/officeDocument/2006/relationships/slide" Target="slides/slide31.xml"/><Relationship Id="rId66" Type="http://schemas.openxmlformats.org/officeDocument/2006/relationships/slide" Target="slides/slide30.xml"/><Relationship Id="rId65" Type="http://schemas.openxmlformats.org/officeDocument/2006/relationships/slide" Target="slides/slide29.xml"/><Relationship Id="rId64" Type="http://schemas.openxmlformats.org/officeDocument/2006/relationships/slide" Target="slides/slide28.xml"/><Relationship Id="rId63" Type="http://schemas.openxmlformats.org/officeDocument/2006/relationships/slide" Target="slides/slide27.xml"/><Relationship Id="rId62" Type="http://schemas.openxmlformats.org/officeDocument/2006/relationships/slide" Target="slides/slide26.xml"/><Relationship Id="rId61" Type="http://schemas.openxmlformats.org/officeDocument/2006/relationships/slide" Target="slides/slide25.xml"/><Relationship Id="rId60" Type="http://schemas.openxmlformats.org/officeDocument/2006/relationships/slide" Target="slides/slide24.xml"/><Relationship Id="rId6" Type="http://schemas.openxmlformats.org/officeDocument/2006/relationships/slideMaster" Target="slideMasters/slideMaster5.xml"/><Relationship Id="rId59" Type="http://schemas.openxmlformats.org/officeDocument/2006/relationships/slide" Target="slides/slide23.xml"/><Relationship Id="rId58" Type="http://schemas.openxmlformats.org/officeDocument/2006/relationships/slide" Target="slides/slide22.xml"/><Relationship Id="rId57" Type="http://schemas.openxmlformats.org/officeDocument/2006/relationships/slide" Target="slides/slide21.xml"/><Relationship Id="rId56" Type="http://schemas.openxmlformats.org/officeDocument/2006/relationships/slide" Target="slides/slide20.xml"/><Relationship Id="rId55" Type="http://schemas.openxmlformats.org/officeDocument/2006/relationships/slide" Target="slides/slide19.xml"/><Relationship Id="rId54" Type="http://schemas.openxmlformats.org/officeDocument/2006/relationships/slide" Target="slides/slide18.xml"/><Relationship Id="rId53" Type="http://schemas.openxmlformats.org/officeDocument/2006/relationships/slide" Target="slides/slide17.xml"/><Relationship Id="rId52" Type="http://schemas.openxmlformats.org/officeDocument/2006/relationships/slide" Target="slides/slide16.xml"/><Relationship Id="rId51" Type="http://schemas.openxmlformats.org/officeDocument/2006/relationships/slide" Target="slides/slide15.xml"/><Relationship Id="rId50" Type="http://schemas.openxmlformats.org/officeDocument/2006/relationships/slide" Target="slides/slide14.xml"/><Relationship Id="rId5" Type="http://schemas.openxmlformats.org/officeDocument/2006/relationships/slideMaster" Target="slideMasters/slideMaster4.xml"/><Relationship Id="rId49" Type="http://schemas.openxmlformats.org/officeDocument/2006/relationships/slide" Target="slides/slide13.xml"/><Relationship Id="rId48" Type="http://schemas.openxmlformats.org/officeDocument/2006/relationships/slide" Target="slides/slide12.xml"/><Relationship Id="rId47" Type="http://schemas.openxmlformats.org/officeDocument/2006/relationships/slide" Target="slides/slide11.xml"/><Relationship Id="rId46" Type="http://schemas.openxmlformats.org/officeDocument/2006/relationships/slide" Target="slides/slide10.xml"/><Relationship Id="rId45" Type="http://schemas.openxmlformats.org/officeDocument/2006/relationships/slide" Target="slides/slide9.xml"/><Relationship Id="rId44" Type="http://schemas.openxmlformats.org/officeDocument/2006/relationships/slide" Target="slides/slide8.xml"/><Relationship Id="rId43" Type="http://schemas.openxmlformats.org/officeDocument/2006/relationships/slide" Target="slides/slide7.xml"/><Relationship Id="rId42" Type="http://schemas.openxmlformats.org/officeDocument/2006/relationships/slide" Target="slides/slide6.xml"/><Relationship Id="rId41" Type="http://schemas.openxmlformats.org/officeDocument/2006/relationships/slide" Target="slides/slide5.xml"/><Relationship Id="rId40" Type="http://schemas.openxmlformats.org/officeDocument/2006/relationships/slide" Target="slides/slide4.xml"/><Relationship Id="rId4" Type="http://schemas.openxmlformats.org/officeDocument/2006/relationships/slideMaster" Target="slideMasters/slideMaster3.xml"/><Relationship Id="rId39" Type="http://schemas.openxmlformats.org/officeDocument/2006/relationships/notesMaster" Target="notesMasters/notesMaster1.xml"/><Relationship Id="rId38" Type="http://schemas.openxmlformats.org/officeDocument/2006/relationships/slide" Target="slides/slide3.xml"/><Relationship Id="rId37" Type="http://schemas.openxmlformats.org/officeDocument/2006/relationships/slide" Target="slides/slide2.xml"/><Relationship Id="rId36" Type="http://schemas.openxmlformats.org/officeDocument/2006/relationships/slide" Target="slides/slide1.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10D2EB-3EF0-4E43-B821-4056248341C8}" type="datetimeFigureOut">
              <a:rPr lang="es-CO" smtClean="0"/>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11082B-7A3E-6B42-9426-6B1ABEC01B24}" type="slidenum">
              <a:rPr lang="es-CO" smtClean="0"/>
            </a:fld>
            <a:endParaRPr lang="es-C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0" i="0" u="none" strike="noStrike" kern="1200" dirty="0">
                <a:solidFill>
                  <a:schemeClr val="tx1"/>
                </a:solidFill>
                <a:effectLst/>
                <a:latin typeface="+mn-lt"/>
                <a:ea typeface="+mn-ea"/>
                <a:cs typeface="+mn-cs"/>
              </a:rPr>
              <a:t>XSync no nació en una sala de juntas, sino en conversaciones después del trabajo entre dos desarrolladores apasionados por la integración. Vimos que el mercado crecía rápidamente, especialmente en torno a </a:t>
            </a:r>
            <a:r>
              <a:rPr lang="es-CO" sz="1200" b="0" i="0" u="none" strike="noStrike" kern="1200" dirty="0" err="1">
                <a:solidFill>
                  <a:schemeClr val="tx1"/>
                </a:solidFill>
                <a:effectLst/>
                <a:latin typeface="+mn-lt"/>
                <a:ea typeface="+mn-ea"/>
                <a:cs typeface="+mn-cs"/>
              </a:rPr>
              <a:t>MuleSoft</a:t>
            </a:r>
            <a:r>
              <a:rPr lang="es-CO" sz="1200" b="0" i="0" u="none" strike="noStrike" kern="1200" dirty="0">
                <a:solidFill>
                  <a:schemeClr val="tx1"/>
                </a:solidFill>
                <a:effectLst/>
                <a:latin typeface="+mn-lt"/>
                <a:ea typeface="+mn-ea"/>
                <a:cs typeface="+mn-cs"/>
              </a:rPr>
              <a:t>, y decidimos pasar a la acción. Nos pusimos en contacto con personas con talento con las que habíamos trabajado anteriormente, sentamos las bases y así es como XSync cobró vida: a partir de la experiencia real, la colaboración y una visión compartida.</a:t>
            </a:r>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0" i="0" u="none" strike="noStrike" kern="1200" dirty="0">
                <a:solidFill>
                  <a:schemeClr val="tx1"/>
                </a:solidFill>
                <a:effectLst/>
                <a:latin typeface="+mn-lt"/>
                <a:ea typeface="+mn-ea"/>
                <a:cs typeface="+mn-cs"/>
              </a:rPr>
              <a:t>Nos especializamos en integración y automatización a través de tecnologías como </a:t>
            </a:r>
            <a:r>
              <a:rPr lang="es-CO" sz="1200" b="0" i="0" u="none" strike="noStrike" kern="1200" dirty="0" err="1">
                <a:solidFill>
                  <a:schemeClr val="tx1"/>
                </a:solidFill>
                <a:effectLst/>
                <a:latin typeface="+mn-lt"/>
                <a:ea typeface="+mn-ea"/>
                <a:cs typeface="+mn-cs"/>
              </a:rPr>
              <a:t>MuleSoft</a:t>
            </a:r>
            <a:r>
              <a:rPr lang="es-CO" sz="1200" b="0" i="0" u="none" strike="noStrike" kern="1200" dirty="0">
                <a:solidFill>
                  <a:schemeClr val="tx1"/>
                </a:solidFill>
                <a:effectLst/>
                <a:latin typeface="+mn-lt"/>
                <a:ea typeface="+mn-ea"/>
                <a:cs typeface="+mn-cs"/>
              </a:rPr>
              <a:t>, </a:t>
            </a:r>
            <a:r>
              <a:rPr lang="es-CO" sz="1200" b="0" i="0" u="none" strike="noStrike" kern="1200" dirty="0" err="1">
                <a:solidFill>
                  <a:schemeClr val="tx1"/>
                </a:solidFill>
                <a:effectLst/>
                <a:latin typeface="+mn-lt"/>
                <a:ea typeface="+mn-ea"/>
                <a:cs typeface="+mn-cs"/>
              </a:rPr>
              <a:t>Boomi</a:t>
            </a:r>
            <a:r>
              <a:rPr lang="es-CO" sz="1200" b="0" i="0" u="none" strike="noStrike" kern="1200" dirty="0">
                <a:solidFill>
                  <a:schemeClr val="tx1"/>
                </a:solidFill>
                <a:effectLst/>
                <a:latin typeface="+mn-lt"/>
                <a:ea typeface="+mn-ea"/>
                <a:cs typeface="+mn-cs"/>
              </a:rPr>
              <a:t>, SAP </a:t>
            </a:r>
            <a:r>
              <a:rPr lang="es-CO" sz="1200" b="0" i="0" u="none" strike="noStrike" kern="1200" dirty="0" err="1">
                <a:solidFill>
                  <a:schemeClr val="tx1"/>
                </a:solidFill>
                <a:effectLst/>
                <a:latin typeface="+mn-lt"/>
                <a:ea typeface="+mn-ea"/>
                <a:cs typeface="+mn-cs"/>
              </a:rPr>
              <a:t>SuccessFactors</a:t>
            </a:r>
            <a:r>
              <a:rPr lang="es-CO" sz="1200" b="0" i="0" u="none" strike="noStrike" kern="1200" dirty="0">
                <a:solidFill>
                  <a:schemeClr val="tx1"/>
                </a:solidFill>
                <a:effectLst/>
                <a:latin typeface="+mn-lt"/>
                <a:ea typeface="+mn-ea"/>
                <a:cs typeface="+mn-cs"/>
              </a:rPr>
              <a:t> y Salesforce Marketing Cloud. Ofrecemos servicios de consultoría y soluciones de dotación de personal con modelos flexibles, que incluyen implementaciones, subcontratación, proyectos gestionados, asistencia y formación. Nuestro objetivo es ayudar a las empresas a ampliar sus operaciones con la experiencia adecuada en el momento adecuado.</a:t>
            </a:r>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Nuestro equipo cuenta con una amplia experiencia en las principales plataformas. En </a:t>
            </a:r>
            <a:r>
              <a:rPr lang="es-CO" dirty="0" err="1"/>
              <a:t>MuleSoft</a:t>
            </a:r>
            <a:r>
              <a:rPr lang="es-CO" dirty="0"/>
              <a:t>, cubrimos el diseño basado en API, la implementación de </a:t>
            </a:r>
            <a:r>
              <a:rPr lang="es-CO" dirty="0" err="1"/>
              <a:t>CloudHub</a:t>
            </a:r>
            <a:r>
              <a:rPr lang="es-CO" dirty="0"/>
              <a:t> y el uso avanzado de </a:t>
            </a:r>
            <a:r>
              <a:rPr lang="es-CO" dirty="0" err="1"/>
              <a:t>DataWeave</a:t>
            </a:r>
            <a:r>
              <a:rPr lang="es-CO" dirty="0"/>
              <a:t>. En </a:t>
            </a:r>
            <a:r>
              <a:rPr lang="es-CO" dirty="0" err="1"/>
              <a:t>Boomi</a:t>
            </a:r>
            <a:r>
              <a:rPr lang="es-CO" dirty="0"/>
              <a:t>, trabajamos con </a:t>
            </a:r>
            <a:r>
              <a:rPr lang="es-CO" dirty="0" err="1"/>
              <a:t>AtomSphere</a:t>
            </a:r>
            <a:r>
              <a:rPr lang="es-CO" dirty="0"/>
              <a:t>, conectores y módulos de integración. También damos soporte a todos los módulos de SAP </a:t>
            </a:r>
            <a:r>
              <a:rPr lang="es-CO" dirty="0" err="1"/>
              <a:t>SuccessFactors</a:t>
            </a:r>
            <a:r>
              <a:rPr lang="es-CO" dirty="0"/>
              <a:t> y contamos con sólidas capacidades en Salesforce Marketing Cloud para la automatización del recorrido del cliente. Todo ello con el respaldo de profesionales certificados que entienden la entrega en el mundo real.</a:t>
            </a:r>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9951A626-51CF-A243-A8B7-6A7971712D20}" type="slidenum">
              <a:rPr lang="es-CO" smtClean="0"/>
            </a:fld>
            <a:endParaRPr lang="es-C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endParaRPr lang="es-MX"/>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es-MX"/>
              <a:t>Haz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4" name="Marcador de contenido 3"/>
          <p:cNvSpPr>
            <a:spLocks noGrp="1"/>
          </p:cNvSpPr>
          <p:nvPr>
            <p:ph sz="half" idx="2" hasCustomPrompt="1"/>
          </p:nvPr>
        </p:nvSpPr>
        <p:spPr>
          <a:xfrm>
            <a:off x="839788" y="2505075"/>
            <a:ext cx="5157787"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endParaRPr lang="es-MX"/>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7" name="Marcador de fecha 6"/>
          <p:cNvSpPr>
            <a:spLocks noGrp="1"/>
          </p:cNvSpPr>
          <p:nvPr>
            <p:ph type="dt" sz="half" idx="10"/>
          </p:nvPr>
        </p:nvSpPr>
        <p:spPr/>
        <p:txBody>
          <a:bodyPr/>
          <a:lstStyle/>
          <a:p>
            <a:fld id="{F190992D-AF6F-5B4F-B5FE-C9B182795CD4}"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fecha 2"/>
          <p:cNvSpPr>
            <a:spLocks noGrp="1"/>
          </p:cNvSpPr>
          <p:nvPr>
            <p:ph type="dt" sz="half" idx="10"/>
          </p:nvPr>
        </p:nvSpPr>
        <p:spPr/>
        <p:txBody>
          <a:bodyPr/>
          <a:lstStyle/>
          <a:p>
            <a:fld id="{F190992D-AF6F-5B4F-B5FE-C9B182795CD4}"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190992D-AF6F-5B4F-B5FE-C9B182795CD4}"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endParaRPr lang="es-MX"/>
          </a:p>
        </p:txBody>
      </p:sp>
      <p:sp>
        <p:nvSpPr>
          <p:cNvPr id="5" name="Marcador de fecha 4"/>
          <p:cNvSpPr>
            <a:spLocks noGrp="1"/>
          </p:cNvSpPr>
          <p:nvPr>
            <p:ph type="dt" sz="half" idx="10"/>
          </p:nvPr>
        </p:nvSpPr>
        <p:spPr/>
        <p:txBody>
          <a:bodyPr/>
          <a:lstStyle/>
          <a:p>
            <a:fld id="{F190992D-AF6F-5B4F-B5FE-C9B182795CD4}"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10"/>
          </p:nvPr>
        </p:nvSpPr>
        <p:spPr/>
        <p:txBody>
          <a:bodyPr/>
          <a:lstStyle/>
          <a:p>
            <a:fld id="{F190992D-AF6F-5B4F-B5FE-C9B182795CD4}"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4037535-AC8C-A54F-AE7D-23C2D36F7627}" type="slidenum">
              <a:rPr lang="es-CO" smtClean="0"/>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image" Target="../media/image2.sv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3.png"/><Relationship Id="rId13" Type="http://schemas.openxmlformats.org/officeDocument/2006/relationships/image" Target="../media/image6.svg"/><Relationship Id="rId12" Type="http://schemas.openxmlformats.org/officeDocument/2006/relationships/image" Target="../media/image4.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3.png"/><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3.png"/><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3.png"/><Relationship Id="rId13" Type="http://schemas.openxmlformats.org/officeDocument/2006/relationships/image" Target="../media/image6.svg"/><Relationship Id="rId12" Type="http://schemas.openxmlformats.org/officeDocument/2006/relationships/image" Target="../media/image4.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3" Type="http://schemas.openxmlformats.org/officeDocument/2006/relationships/theme" Target="../theme/theme7.xml"/><Relationship Id="rId12" Type="http://schemas.openxmlformats.org/officeDocument/2006/relationships/image" Target="../media/image3.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3" Type="http://schemas.openxmlformats.org/officeDocument/2006/relationships/theme" Target="../theme/theme8.xml"/><Relationship Id="rId12" Type="http://schemas.openxmlformats.org/officeDocument/2006/relationships/image" Target="../media/image3.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5" Type="http://schemas.openxmlformats.org/officeDocument/2006/relationships/theme" Target="../theme/theme9.xml"/><Relationship Id="rId14" Type="http://schemas.openxmlformats.org/officeDocument/2006/relationships/image" Target="../media/image3.png"/><Relationship Id="rId13" Type="http://schemas.openxmlformats.org/officeDocument/2006/relationships/image" Target="../media/image6.svg"/><Relationship Id="rId12" Type="http://schemas.openxmlformats.org/officeDocument/2006/relationships/image" Target="../media/image4.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3" Type="http://schemas.openxmlformats.org/officeDocument/2006/relationships/theme" Target="../theme/theme10.xml"/><Relationship Id="rId12" Type="http://schemas.openxmlformats.org/officeDocument/2006/relationships/image" Target="../media/image3.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3" Type="http://schemas.openxmlformats.org/officeDocument/2006/relationships/theme" Target="../theme/theme11.xml"/><Relationship Id="rId12" Type="http://schemas.openxmlformats.org/officeDocument/2006/relationships/image" Target="../media/image3.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3" Type="http://schemas.openxmlformats.org/officeDocument/2006/relationships/theme" Target="../theme/theme12.xml"/><Relationship Id="rId12" Type="http://schemas.openxmlformats.org/officeDocument/2006/relationships/image" Target="../media/image3.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5" Type="http://schemas.openxmlformats.org/officeDocument/2006/relationships/theme" Target="../theme/theme13.xml"/><Relationship Id="rId14" Type="http://schemas.openxmlformats.org/officeDocument/2006/relationships/image" Target="../media/image3.png"/><Relationship Id="rId13" Type="http://schemas.openxmlformats.org/officeDocument/2006/relationships/image" Target="../media/image6.svg"/><Relationship Id="rId12" Type="http://schemas.openxmlformats.org/officeDocument/2006/relationships/image" Target="../media/image4.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5" Type="http://schemas.openxmlformats.org/officeDocument/2006/relationships/theme" Target="../theme/theme14.xml"/><Relationship Id="rId14" Type="http://schemas.openxmlformats.org/officeDocument/2006/relationships/image" Target="../media/image3.png"/><Relationship Id="rId13" Type="http://schemas.openxmlformats.org/officeDocument/2006/relationships/image" Target="../media/image7.svg"/><Relationship Id="rId12" Type="http://schemas.openxmlformats.org/officeDocument/2006/relationships/image" Target="../media/image4.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3" Type="http://schemas.openxmlformats.org/officeDocument/2006/relationships/theme" Target="../theme/theme15.xml"/><Relationship Id="rId12" Type="http://schemas.openxmlformats.org/officeDocument/2006/relationships/image" Target="../media/image3.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3" Type="http://schemas.openxmlformats.org/officeDocument/2006/relationships/theme" Target="../theme/theme16.xml"/><Relationship Id="rId12" Type="http://schemas.openxmlformats.org/officeDocument/2006/relationships/image" Target="../media/image3.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3" Type="http://schemas.openxmlformats.org/officeDocument/2006/relationships/theme" Target="../theme/theme17.xml"/><Relationship Id="rId12" Type="http://schemas.openxmlformats.org/officeDocument/2006/relationships/image" Target="../media/image3.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5" Type="http://schemas.openxmlformats.org/officeDocument/2006/relationships/theme" Target="../theme/theme18.xml"/><Relationship Id="rId14" Type="http://schemas.openxmlformats.org/officeDocument/2006/relationships/image" Target="../media/image3.png"/><Relationship Id="rId13" Type="http://schemas.openxmlformats.org/officeDocument/2006/relationships/image" Target="../media/image8.svg"/><Relationship Id="rId12" Type="http://schemas.openxmlformats.org/officeDocument/2006/relationships/image" Target="../media/image4.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3" Type="http://schemas.openxmlformats.org/officeDocument/2006/relationships/theme" Target="../theme/theme19.xml"/><Relationship Id="rId12" Type="http://schemas.openxmlformats.org/officeDocument/2006/relationships/image" Target="../media/image3.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3" Type="http://schemas.openxmlformats.org/officeDocument/2006/relationships/theme" Target="../theme/theme20.xml"/><Relationship Id="rId12" Type="http://schemas.openxmlformats.org/officeDocument/2006/relationships/image" Target="../media/image3.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3" Type="http://schemas.openxmlformats.org/officeDocument/2006/relationships/theme" Target="../theme/theme21.xml"/><Relationship Id="rId12" Type="http://schemas.openxmlformats.org/officeDocument/2006/relationships/image" Target="../media/image3.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5" Type="http://schemas.openxmlformats.org/officeDocument/2006/relationships/theme" Target="../theme/theme22.xml"/><Relationship Id="rId14" Type="http://schemas.openxmlformats.org/officeDocument/2006/relationships/image" Target="../media/image3.png"/><Relationship Id="rId13" Type="http://schemas.openxmlformats.org/officeDocument/2006/relationships/image" Target="../media/image7.svg"/><Relationship Id="rId12" Type="http://schemas.openxmlformats.org/officeDocument/2006/relationships/image" Target="../media/image4.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3" Type="http://schemas.openxmlformats.org/officeDocument/2006/relationships/theme" Target="../theme/theme23.xml"/><Relationship Id="rId12" Type="http://schemas.openxmlformats.org/officeDocument/2006/relationships/image" Target="../media/image3.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3" Type="http://schemas.openxmlformats.org/officeDocument/2006/relationships/theme" Target="../theme/theme24.xml"/><Relationship Id="rId12" Type="http://schemas.openxmlformats.org/officeDocument/2006/relationships/image" Target="../media/image3.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3" Type="http://schemas.openxmlformats.org/officeDocument/2006/relationships/theme" Target="../theme/theme25.xml"/><Relationship Id="rId12" Type="http://schemas.openxmlformats.org/officeDocument/2006/relationships/image" Target="../media/image3.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3" Type="http://schemas.openxmlformats.org/officeDocument/2006/relationships/theme" Target="../theme/theme26.xml"/><Relationship Id="rId12" Type="http://schemas.openxmlformats.org/officeDocument/2006/relationships/image" Target="../media/image3.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3" Type="http://schemas.openxmlformats.org/officeDocument/2006/relationships/theme" Target="../theme/theme27.xml"/><Relationship Id="rId12" Type="http://schemas.openxmlformats.org/officeDocument/2006/relationships/image" Target="../media/image3.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3" Type="http://schemas.openxmlformats.org/officeDocument/2006/relationships/theme" Target="../theme/theme28.xml"/><Relationship Id="rId12" Type="http://schemas.openxmlformats.org/officeDocument/2006/relationships/image" Target="../media/image3.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3" Type="http://schemas.openxmlformats.org/officeDocument/2006/relationships/theme" Target="../theme/theme29.xml"/><Relationship Id="rId12" Type="http://schemas.openxmlformats.org/officeDocument/2006/relationships/image" Target="../media/image3.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5" Type="http://schemas.openxmlformats.org/officeDocument/2006/relationships/theme" Target="../theme/theme30.xml"/><Relationship Id="rId14" Type="http://schemas.openxmlformats.org/officeDocument/2006/relationships/image" Target="../media/image3.png"/><Relationship Id="rId13" Type="http://schemas.openxmlformats.org/officeDocument/2006/relationships/image" Target="../media/image8.svg"/><Relationship Id="rId12" Type="http://schemas.openxmlformats.org/officeDocument/2006/relationships/image" Target="../media/image4.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3" Type="http://schemas.openxmlformats.org/officeDocument/2006/relationships/theme" Target="../theme/theme31.xml"/><Relationship Id="rId12" Type="http://schemas.openxmlformats.org/officeDocument/2006/relationships/image" Target="../media/image3.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3" Type="http://schemas.openxmlformats.org/officeDocument/2006/relationships/theme" Target="../theme/theme32.xml"/><Relationship Id="rId12" Type="http://schemas.openxmlformats.org/officeDocument/2006/relationships/image" Target="../media/image3.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3" Type="http://schemas.openxmlformats.org/officeDocument/2006/relationships/theme" Target="../theme/theme33.xml"/><Relationship Id="rId12" Type="http://schemas.openxmlformats.org/officeDocument/2006/relationships/image" Target="../media/image3.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3" Type="http://schemas.openxmlformats.org/officeDocument/2006/relationships/theme" Target="../theme/theme34.xml"/><Relationship Id="rId12" Type="http://schemas.openxmlformats.org/officeDocument/2006/relationships/image" Target="../media/image3.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4"/>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r:embed="rId12">
              <a:duotone>
                <a:schemeClr val="bg2">
                  <a:shade val="45000"/>
                  <a:satMod val="135000"/>
                </a:schemeClr>
                <a:prstClr val="white"/>
              </a:duotone>
              <a:extLst>
                <a:ext uri="{96DAC541-7B7A-43D3-8B79-37D633B846F1}">
                  <asvg:svgBlip xmlns:asvg="http://schemas.microsoft.com/office/drawing/2016/SVG/main" r:embed="rId13"/>
                </a:ext>
              </a:extLst>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rgbClr val="5A52A1">
            <a:alpha val="89877"/>
          </a:srgb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0992D-AF6F-5B4F-B5FE-C9B182795CD4}"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37535-AC8C-A54F-AE7D-23C2D36F7627}" type="slidenum">
              <a:rPr lang="es-CO" smtClean="0"/>
            </a:fld>
            <a:endParaRPr lang="es-CO"/>
          </a:p>
        </p:txBody>
      </p:sp>
      <p:sp>
        <p:nvSpPr>
          <p:cNvPr id="7" name="Freeform 2"/>
          <p:cNvSpPr/>
          <p:nvPr userDrawn="1"/>
        </p:nvSpPr>
        <p:spPr>
          <a:xfrm flipH="1" flipV="1">
            <a:off x="8163624" y="363918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a:p>
        </p:txBody>
      </p:sp>
      <p:sp>
        <p:nvSpPr>
          <p:cNvPr id="8" name="Freeform 3"/>
          <p:cNvSpPr/>
          <p:nvPr userDrawn="1"/>
        </p:nvSpPr>
        <p:spPr>
          <a:xfrm flipH="1" flipV="1">
            <a:off x="8657400" y="240147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p:spPr>
        <p:txBody>
          <a:bodyPr/>
          <a:lstStyle/>
          <a:p>
            <a:endParaRPr lang="es-CO" dirty="0"/>
          </a:p>
        </p:txBody>
      </p:sp>
      <p:sp>
        <p:nvSpPr>
          <p:cNvPr id="9" name="Freeform 7"/>
          <p:cNvSpPr>
            <a:spLocks noChangeAspect="1"/>
          </p:cNvSpPr>
          <p:nvPr userDrawn="1"/>
        </p:nvSpPr>
        <p:spPr>
          <a:xfrm>
            <a:off x="10152600" y="5421994"/>
            <a:ext cx="1868712" cy="1868712"/>
          </a:xfrm>
          <a:custGeom>
            <a:avLst/>
            <a:gdLst/>
            <a:ahLst/>
            <a:cxnLst/>
            <a:rect l="l" t="t" r="r" b="b"/>
            <a:pathLst>
              <a:path w="4671780" h="4671780">
                <a:moveTo>
                  <a:pt x="0" y="0"/>
                </a:moveTo>
                <a:lnTo>
                  <a:pt x="4671780" y="0"/>
                </a:lnTo>
                <a:lnTo>
                  <a:pt x="4671780" y="4671780"/>
                </a:lnTo>
                <a:lnTo>
                  <a:pt x="0" y="4671780"/>
                </a:lnTo>
                <a:lnTo>
                  <a:pt x="0" y="0"/>
                </a:lnTo>
                <a:close/>
              </a:path>
            </a:pathLst>
          </a:custGeom>
          <a:blipFill>
            <a:blip r:embed="rId12"/>
            <a:stretch>
              <a:fillRect/>
            </a:stretch>
          </a:blipFill>
        </p:spPr>
        <p:txBody>
          <a:bodyPr/>
          <a:lstStyle/>
          <a:p>
            <a:endParaRPr lang="es-CO" dirty="0"/>
          </a:p>
        </p:txBody>
      </p:sp>
      <p:sp>
        <p:nvSpPr>
          <p:cNvPr id="10" name="Freeform 3"/>
          <p:cNvSpPr/>
          <p:nvPr userDrawn="1"/>
        </p:nvSpPr>
        <p:spPr>
          <a:xfrm flipH="1" flipV="1">
            <a:off x="10350120" y="-2673762"/>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
        <p:nvSpPr>
          <p:cNvPr id="11" name="Freeform 3"/>
          <p:cNvSpPr/>
          <p:nvPr userDrawn="1"/>
        </p:nvSpPr>
        <p:spPr>
          <a:xfrm flipH="1" flipV="1">
            <a:off x="-7144512" y="-2147125"/>
            <a:ext cx="8640000" cy="8640000"/>
          </a:xfrm>
          <a:custGeom>
            <a:avLst/>
            <a:gdLst/>
            <a:ahLst/>
            <a:cxnLst/>
            <a:rect l="l" t="t" r="r" b="b"/>
            <a:pathLst>
              <a:path w="8640000" h="8640000">
                <a:moveTo>
                  <a:pt x="8640000" y="8640000"/>
                </a:moveTo>
                <a:lnTo>
                  <a:pt x="0" y="8640000"/>
                </a:lnTo>
                <a:lnTo>
                  <a:pt x="0" y="0"/>
                </a:lnTo>
                <a:lnTo>
                  <a:pt x="8640000" y="0"/>
                </a:lnTo>
                <a:lnTo>
                  <a:pt x="8640000" y="8640000"/>
                </a:lnTo>
                <a:close/>
              </a:path>
            </a:pathLst>
          </a:custGeom>
          <a:blipFill>
            <a:blip/>
            <a:stretch>
              <a:fillRect/>
            </a:stretch>
          </a:blipFill>
          <a:scene3d>
            <a:camera prst="orthographicFront">
              <a:rot lat="0" lon="0" rev="2400000"/>
            </a:camera>
            <a:lightRig rig="threePt" dir="t"/>
          </a:scene3d>
        </p:spPr>
        <p:txBody>
          <a:bodyPr/>
          <a:lstStyle/>
          <a:p>
            <a:endParaRPr lang="es-CO" dirty="0"/>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9" Type="http://schemas.openxmlformats.org/officeDocument/2006/relationships/image" Target="../media/image21.svg"/><Relationship Id="rId8" Type="http://schemas.openxmlformats.org/officeDocument/2006/relationships/image" Target="../media/image20.svg"/><Relationship Id="rId7" Type="http://schemas.openxmlformats.org/officeDocument/2006/relationships/image" Target="../media/image19.sv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1" Type="http://schemas.openxmlformats.org/officeDocument/2006/relationships/notesSlide" Target="../notesSlides/notesSlide2.xml"/><Relationship Id="rId10" Type="http://schemas.openxmlformats.org/officeDocument/2006/relationships/slideLayout" Target="../slideLayouts/slideLayout2.xml"/><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9.jpeg"/><Relationship Id="rId7" Type="http://schemas.openxmlformats.org/officeDocument/2006/relationships/image" Target="../media/image28.jpeg"/><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25.svg"/><Relationship Id="rId3" Type="http://schemas.openxmlformats.org/officeDocument/2006/relationships/image" Target="../media/image24.png"/><Relationship Id="rId2" Type="http://schemas.openxmlformats.org/officeDocument/2006/relationships/image" Target="../media/image23.svg"/><Relationship Id="rId10" Type="http://schemas.openxmlformats.org/officeDocument/2006/relationships/notesSlide" Target="../notesSlides/notesSlide3.xml"/><Relationship Id="rId1"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3.xml"/><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6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77.xml"/><Relationship Id="rId1"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9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3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4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5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573974" y="1858633"/>
            <a:ext cx="9144000" cy="2387600"/>
          </a:xfrm>
        </p:spPr>
        <p:txBody>
          <a:bodyPr>
            <a:normAutofit/>
          </a:bodyPr>
          <a:lstStyle/>
          <a:p>
            <a:pPr algn="l"/>
            <a:r>
              <a:rPr lang="es-CO" sz="4000" dirty="0"/>
              <a:t>Guía para principiantes de </a:t>
            </a:r>
            <a:r>
              <a:rPr lang="es-CO" sz="4000" dirty="0" err="1"/>
              <a:t>MuleSoft</a:t>
            </a:r>
            <a:endParaRPr lang="es-CO" sz="4000" dirty="0"/>
          </a:p>
        </p:txBody>
      </p:sp>
      <p:sp>
        <p:nvSpPr>
          <p:cNvPr id="3" name="Subtítulo 2"/>
          <p:cNvSpPr>
            <a:spLocks noGrp="1"/>
          </p:cNvSpPr>
          <p:nvPr>
            <p:ph type="subTitle" idx="1"/>
          </p:nvPr>
        </p:nvSpPr>
        <p:spPr>
          <a:xfrm>
            <a:off x="573974" y="4575815"/>
            <a:ext cx="9144000" cy="1655762"/>
          </a:xfrm>
        </p:spPr>
        <p:txBody>
          <a:bodyPr>
            <a:normAutofit/>
          </a:bodyPr>
          <a:lstStyle/>
          <a:p>
            <a:pPr algn="l"/>
            <a:r>
              <a:rPr lang="es-CO" i="1" dirty="0"/>
              <a:t>Josymar Garcia – </a:t>
            </a:r>
            <a:r>
              <a:rPr lang="es-CO" i="1" dirty="0" err="1"/>
              <a:t>MuleSoft</a:t>
            </a:r>
            <a:r>
              <a:rPr lang="es-CO" i="1" dirty="0"/>
              <a:t> </a:t>
            </a:r>
            <a:r>
              <a:rPr lang="es-CO" i="1" dirty="0" err="1"/>
              <a:t>Developer</a:t>
            </a:r>
            <a:r>
              <a:rPr lang="es-CO" i="1" dirty="0"/>
              <a:t> Sr</a:t>
            </a:r>
            <a:endParaRPr lang="es-CO" i="1" dirty="0"/>
          </a:p>
          <a:p>
            <a:pPr algn="l"/>
            <a:r>
              <a:rPr lang="es-CO" i="1" dirty="0"/>
              <a:t>Esteban Herrera – </a:t>
            </a:r>
            <a:r>
              <a:rPr lang="es-CO" i="1" dirty="0" err="1"/>
              <a:t>MuleSoft</a:t>
            </a:r>
            <a:r>
              <a:rPr lang="es-CO" i="1" dirty="0"/>
              <a:t> </a:t>
            </a:r>
            <a:r>
              <a:rPr lang="es-CO" i="1" dirty="0" err="1"/>
              <a:t>Architect</a:t>
            </a:r>
            <a:endParaRPr lang="es-CO" i="1" dirty="0" err="1"/>
          </a:p>
          <a:p>
            <a:pPr algn="l"/>
            <a:r>
              <a:rPr lang="en-US" altLang="es-CO" i="1" dirty="0">
                <a:sym typeface="+mn-ea"/>
              </a:rPr>
              <a:t>Romel Herrera</a:t>
            </a:r>
            <a:r>
              <a:rPr lang="es-CO" i="1" dirty="0">
                <a:sym typeface="+mn-ea"/>
              </a:rPr>
              <a:t> – </a:t>
            </a:r>
            <a:r>
              <a:rPr lang="es-CO" i="1" dirty="0" err="1">
                <a:sym typeface="+mn-ea"/>
              </a:rPr>
              <a:t>MuleSoft</a:t>
            </a:r>
            <a:r>
              <a:rPr lang="es-CO" i="1" dirty="0">
                <a:sym typeface="+mn-ea"/>
              </a:rPr>
              <a:t> </a:t>
            </a:r>
            <a:r>
              <a:rPr lang="es-CO" i="1" dirty="0" err="1">
                <a:sym typeface="+mn-ea"/>
              </a:rPr>
              <a:t>Developer</a:t>
            </a:r>
            <a:r>
              <a:rPr lang="es-CO" i="1" dirty="0">
                <a:sym typeface="+mn-ea"/>
              </a:rPr>
              <a:t> Sr</a:t>
            </a:r>
            <a:endParaRPr lang="es-CO"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4000" dirty="0"/>
              <a:t>XSync – Acerca de nosotros</a:t>
            </a:r>
            <a:endParaRPr lang="es-CO" sz="4000" dirty="0"/>
          </a:p>
        </p:txBody>
      </p:sp>
      <p:sp>
        <p:nvSpPr>
          <p:cNvPr id="3" name="Marcador de texto 2"/>
          <p:cNvSpPr>
            <a:spLocks noGrp="1"/>
          </p:cNvSpPr>
          <p:nvPr>
            <p:ph type="body" idx="1"/>
          </p:nvPr>
        </p:nvSpPr>
        <p:spPr/>
        <p:txBody>
          <a:bodyPr>
            <a:normAutofit/>
          </a:bodyPr>
          <a:lstStyle/>
          <a:p>
            <a:r>
              <a:rPr lang="es-CO" i="1" dirty="0"/>
              <a:t>Un vistazo rápido a quiénes somos y por qué hacemos lo que hacemos.</a:t>
            </a:r>
            <a:endParaRPr lang="es-CO" sz="180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a:t>XSync – Acerca de nosotros</a:t>
            </a:r>
            <a:endParaRPr lang="es-CO" sz="2400" dirty="0"/>
          </a:p>
        </p:txBody>
      </p:sp>
      <p:sp>
        <p:nvSpPr>
          <p:cNvPr id="5" name="Marcador de contenido 4"/>
          <p:cNvSpPr>
            <a:spLocks noGrp="1"/>
          </p:cNvSpPr>
          <p:nvPr>
            <p:ph idx="1"/>
          </p:nvPr>
        </p:nvSpPr>
        <p:spPr>
          <a:xfrm>
            <a:off x="710184" y="1343218"/>
            <a:ext cx="10435144" cy="2296798"/>
          </a:xfrm>
        </p:spPr>
        <p:txBody>
          <a:bodyPr>
            <a:noAutofit/>
          </a:bodyPr>
          <a:lstStyle/>
          <a:p>
            <a:pPr algn="just"/>
            <a:r>
              <a:rPr lang="es-CO" sz="1600" dirty="0"/>
              <a:t>Comenzó como una conversación informal entre dos desarrolladores de </a:t>
            </a:r>
            <a:r>
              <a:rPr lang="es-CO" sz="1600" dirty="0" err="1"/>
              <a:t>MuleSoft</a:t>
            </a:r>
            <a:r>
              <a:rPr lang="es-CO" sz="1600" dirty="0"/>
              <a:t> después del trabajo.</a:t>
            </a:r>
            <a:endParaRPr lang="es-CO" sz="1600" dirty="0"/>
          </a:p>
          <a:p>
            <a:pPr algn="just"/>
            <a:r>
              <a:rPr lang="es-CO" sz="1600" dirty="0"/>
              <a:t>Inspirado por la creciente demanda global de talento </a:t>
            </a:r>
            <a:r>
              <a:rPr lang="es-CO" sz="1600" dirty="0" err="1"/>
              <a:t>iPaaS</a:t>
            </a:r>
            <a:r>
              <a:rPr lang="es-CO" sz="1600" dirty="0"/>
              <a:t> y la prestación ágil de servicios.</a:t>
            </a:r>
            <a:endParaRPr lang="es-CO" sz="1600" dirty="0"/>
          </a:p>
          <a:p>
            <a:pPr algn="just"/>
            <a:r>
              <a:rPr lang="es-CO" sz="1600" dirty="0"/>
              <a:t>Se puso en contacto con antiguos compañeros de trabajo y profesionales de confianza para formar el primer equipo.</a:t>
            </a:r>
            <a:endParaRPr lang="es-CO" sz="1600" dirty="0"/>
          </a:p>
          <a:p>
            <a:pPr algn="just"/>
            <a:r>
              <a:rPr lang="es-CO" sz="1600" dirty="0"/>
              <a:t>Decidió crear una empresa centrada en conectar a las empresas con consultores de integración de primer nivel.</a:t>
            </a:r>
            <a:endParaRPr lang="es-CO" sz="1600" dirty="0"/>
          </a:p>
          <a:p>
            <a:pPr algn="just"/>
            <a:r>
              <a:rPr lang="es-CO" sz="1600" dirty="0"/>
              <a:t>Creada con un ADN técnico y una visión de servicio global.</a:t>
            </a:r>
            <a:endParaRPr lang="es-CO" sz="1600" dirty="0"/>
          </a:p>
          <a:p>
            <a:pPr algn="just"/>
            <a:r>
              <a:rPr lang="es-CO" sz="1600" dirty="0"/>
              <a:t>Originaria de Latinoamérica, diseñada para dar soporte a clientes internacionales.</a:t>
            </a:r>
            <a:endParaRPr lang="es-CO" sz="1600" dirty="0"/>
          </a:p>
        </p:txBody>
      </p:sp>
      <p:pic>
        <p:nvPicPr>
          <p:cNvPr id="19" name="Imagen 18"/>
          <p:cNvPicPr>
            <a:picLocks noChangeAspect="1"/>
          </p:cNvPicPr>
          <p:nvPr/>
        </p:nvPicPr>
        <p:blipFill rotWithShape="1">
          <a:blip r:embed="rId1"/>
          <a:srcRect l="7840" t="10503" r="10441" b="8016"/>
          <a:stretch>
            <a:fillRect/>
          </a:stretch>
        </p:blipFill>
        <p:spPr>
          <a:xfrm>
            <a:off x="1525895" y="3936652"/>
            <a:ext cx="1354893" cy="1350946"/>
          </a:xfrm>
          <a:prstGeom prst="ellipse">
            <a:avLst/>
          </a:prstGeom>
          <a:ln>
            <a:solidFill>
              <a:srgbClr val="5A52A1"/>
            </a:solidFill>
          </a:ln>
        </p:spPr>
      </p:pic>
      <p:pic>
        <p:nvPicPr>
          <p:cNvPr id="21" name="Imagen 20"/>
          <p:cNvPicPr>
            <a:picLocks noChangeAspect="1"/>
          </p:cNvPicPr>
          <p:nvPr/>
        </p:nvPicPr>
        <p:blipFill>
          <a:blip r:embed="rId2"/>
          <a:srcRect l="7778" t="10463" r="10222" b="8268"/>
          <a:stretch>
            <a:fillRect/>
          </a:stretch>
        </p:blipFill>
        <p:spPr>
          <a:xfrm>
            <a:off x="6297735" y="3932417"/>
            <a:ext cx="1358511" cy="1346400"/>
          </a:xfrm>
          <a:prstGeom prst="ellipse">
            <a:avLst/>
          </a:prstGeom>
          <a:ln>
            <a:solidFill>
              <a:srgbClr val="5A52A1"/>
            </a:solidFill>
          </a:ln>
        </p:spPr>
      </p:pic>
      <p:pic>
        <p:nvPicPr>
          <p:cNvPr id="23" name="Imagen 22"/>
          <p:cNvPicPr>
            <a:picLocks noChangeAspect="1"/>
          </p:cNvPicPr>
          <p:nvPr/>
        </p:nvPicPr>
        <p:blipFill>
          <a:blip r:embed="rId3"/>
          <a:srcRect l="7333" t="10000" r="9289" b="7734"/>
          <a:stretch>
            <a:fillRect/>
          </a:stretch>
        </p:blipFill>
        <p:spPr>
          <a:xfrm>
            <a:off x="3898062" y="3923636"/>
            <a:ext cx="1382399" cy="1363962"/>
          </a:xfrm>
          <a:prstGeom prst="ellipse">
            <a:avLst/>
          </a:prstGeom>
          <a:ln>
            <a:solidFill>
              <a:srgbClr val="5A52A1"/>
            </a:solidFill>
          </a:ln>
        </p:spPr>
      </p:pic>
      <p:sp>
        <p:nvSpPr>
          <p:cNvPr id="24" name="CuadroTexto 23"/>
          <p:cNvSpPr txBox="1"/>
          <p:nvPr/>
        </p:nvSpPr>
        <p:spPr>
          <a:xfrm>
            <a:off x="1168755" y="5271726"/>
            <a:ext cx="2069171" cy="738664"/>
          </a:xfrm>
          <a:prstGeom prst="rect">
            <a:avLst/>
          </a:prstGeom>
          <a:noFill/>
        </p:spPr>
        <p:txBody>
          <a:bodyPr wrap="square" rtlCol="0">
            <a:spAutoFit/>
          </a:bodyPr>
          <a:lstStyle/>
          <a:p>
            <a:pPr algn="ctr"/>
            <a:r>
              <a:rPr lang="es-CO" sz="1400" dirty="0"/>
              <a:t>Josymar Garcia</a:t>
            </a:r>
            <a:br>
              <a:rPr lang="es-CO" sz="1400" dirty="0"/>
            </a:br>
            <a:r>
              <a:rPr lang="es-CO" sz="1400" dirty="0" err="1"/>
              <a:t>MuleSoft</a:t>
            </a:r>
            <a:r>
              <a:rPr lang="es-CO" sz="1400" dirty="0"/>
              <a:t> </a:t>
            </a:r>
            <a:r>
              <a:rPr lang="es-CO" sz="1400" dirty="0" err="1"/>
              <a:t>Developer</a:t>
            </a:r>
            <a:r>
              <a:rPr lang="es-CO" sz="1400" dirty="0"/>
              <a:t> Sr</a:t>
            </a:r>
            <a:br>
              <a:rPr lang="es-CO" sz="1400" dirty="0"/>
            </a:br>
            <a:r>
              <a:rPr lang="es-CO" sz="1400" dirty="0"/>
              <a:t>Co-</a:t>
            </a:r>
            <a:r>
              <a:rPr lang="es-CO" sz="1400" dirty="0" err="1"/>
              <a:t>Founder</a:t>
            </a:r>
            <a:endParaRPr lang="es-CO" sz="1400" dirty="0"/>
          </a:p>
        </p:txBody>
      </p:sp>
      <p:sp>
        <p:nvSpPr>
          <p:cNvPr id="25" name="CuadroTexto 24"/>
          <p:cNvSpPr txBox="1"/>
          <p:nvPr/>
        </p:nvSpPr>
        <p:spPr>
          <a:xfrm>
            <a:off x="3554675" y="5278817"/>
            <a:ext cx="2069171" cy="738664"/>
          </a:xfrm>
          <a:prstGeom prst="rect">
            <a:avLst/>
          </a:prstGeom>
          <a:noFill/>
        </p:spPr>
        <p:txBody>
          <a:bodyPr wrap="square" rtlCol="0">
            <a:spAutoFit/>
          </a:bodyPr>
          <a:lstStyle/>
          <a:p>
            <a:pPr algn="ctr"/>
            <a:r>
              <a:rPr lang="es-CO" sz="1400" dirty="0"/>
              <a:t>Esteban Herrera</a:t>
            </a:r>
            <a:br>
              <a:rPr lang="es-CO" sz="1400" dirty="0"/>
            </a:br>
            <a:r>
              <a:rPr lang="es-CO" sz="1400" dirty="0" err="1"/>
              <a:t>MuleSoft</a:t>
            </a:r>
            <a:r>
              <a:rPr lang="es-CO" sz="1400" dirty="0"/>
              <a:t> </a:t>
            </a:r>
            <a:r>
              <a:rPr lang="es-CO" sz="1400" dirty="0" err="1"/>
              <a:t>Architect</a:t>
            </a:r>
            <a:br>
              <a:rPr lang="es-CO" sz="1400" dirty="0"/>
            </a:br>
            <a:r>
              <a:rPr lang="es-CO" sz="1400" dirty="0"/>
              <a:t>Co-</a:t>
            </a:r>
            <a:r>
              <a:rPr lang="es-CO" sz="1400" dirty="0" err="1"/>
              <a:t>Founder</a:t>
            </a:r>
            <a:endParaRPr lang="es-CO" sz="1400" dirty="0"/>
          </a:p>
        </p:txBody>
      </p:sp>
      <p:sp>
        <p:nvSpPr>
          <p:cNvPr id="26" name="CuadroTexto 25"/>
          <p:cNvSpPr txBox="1"/>
          <p:nvPr/>
        </p:nvSpPr>
        <p:spPr>
          <a:xfrm>
            <a:off x="5945685" y="5287598"/>
            <a:ext cx="2069171" cy="738664"/>
          </a:xfrm>
          <a:prstGeom prst="rect">
            <a:avLst/>
          </a:prstGeom>
          <a:noFill/>
        </p:spPr>
        <p:txBody>
          <a:bodyPr wrap="square" rtlCol="0">
            <a:spAutoFit/>
          </a:bodyPr>
          <a:lstStyle/>
          <a:p>
            <a:pPr algn="ctr"/>
            <a:r>
              <a:rPr lang="es-CO" sz="1400" dirty="0" err="1"/>
              <a:t>Ivan</a:t>
            </a:r>
            <a:r>
              <a:rPr lang="es-CO" sz="1400" dirty="0"/>
              <a:t> Linares</a:t>
            </a:r>
            <a:br>
              <a:rPr lang="es-CO" sz="1400" dirty="0"/>
            </a:br>
            <a:r>
              <a:rPr lang="es-CO" sz="1400" dirty="0" err="1"/>
              <a:t>Service</a:t>
            </a:r>
            <a:r>
              <a:rPr lang="es-CO" sz="1400" dirty="0"/>
              <a:t> </a:t>
            </a:r>
            <a:r>
              <a:rPr lang="es-CO" sz="1400" dirty="0" err="1"/>
              <a:t>Delivery</a:t>
            </a:r>
            <a:br>
              <a:rPr lang="es-CO" sz="1400" dirty="0"/>
            </a:br>
            <a:r>
              <a:rPr lang="es-CO" sz="1400" dirty="0"/>
              <a:t>Co-</a:t>
            </a:r>
            <a:r>
              <a:rPr lang="es-CO" sz="1400" dirty="0" err="1"/>
              <a:t>Founder</a:t>
            </a:r>
            <a:endParaRPr lang="es-CO" sz="1400" dirty="0"/>
          </a:p>
        </p:txBody>
      </p:sp>
      <p:pic>
        <p:nvPicPr>
          <p:cNvPr id="6" name="Imagen 5"/>
          <p:cNvPicPr>
            <a:picLocks noChangeAspect="1"/>
          </p:cNvPicPr>
          <p:nvPr/>
        </p:nvPicPr>
        <p:blipFill>
          <a:blip r:embed="rId4"/>
          <a:srcRect l="8130" t="10869" r="10988" b="8071"/>
          <a:stretch>
            <a:fillRect/>
          </a:stretch>
        </p:blipFill>
        <p:spPr>
          <a:xfrm>
            <a:off x="8673520" y="3941198"/>
            <a:ext cx="1343422" cy="1346400"/>
          </a:xfrm>
          <a:prstGeom prst="ellipse">
            <a:avLst/>
          </a:prstGeom>
        </p:spPr>
      </p:pic>
      <p:sp>
        <p:nvSpPr>
          <p:cNvPr id="7" name="CuadroTexto 6"/>
          <p:cNvSpPr txBox="1"/>
          <p:nvPr/>
        </p:nvSpPr>
        <p:spPr>
          <a:xfrm>
            <a:off x="8310645" y="5287598"/>
            <a:ext cx="2069171" cy="738664"/>
          </a:xfrm>
          <a:prstGeom prst="rect">
            <a:avLst/>
          </a:prstGeom>
          <a:noFill/>
        </p:spPr>
        <p:txBody>
          <a:bodyPr wrap="square" rtlCol="0">
            <a:spAutoFit/>
          </a:bodyPr>
          <a:lstStyle/>
          <a:p>
            <a:pPr algn="ctr"/>
            <a:r>
              <a:rPr lang="es-CO" sz="1400" dirty="0"/>
              <a:t>Felipe Fonseca</a:t>
            </a:r>
            <a:br>
              <a:rPr lang="es-CO" sz="1400" dirty="0"/>
            </a:br>
            <a:r>
              <a:rPr lang="es-CO" sz="1400" dirty="0" err="1"/>
              <a:t>Sap</a:t>
            </a:r>
            <a:r>
              <a:rPr lang="es-CO" sz="1400" dirty="0"/>
              <a:t> </a:t>
            </a:r>
            <a:r>
              <a:rPr lang="es-CO" sz="1400" dirty="0" err="1"/>
              <a:t>SuccessFactors</a:t>
            </a:r>
            <a:br>
              <a:rPr lang="es-CO" sz="1400" dirty="0"/>
            </a:br>
            <a:r>
              <a:rPr lang="es-CO" sz="1400" dirty="0"/>
              <a:t>Co-</a:t>
            </a:r>
            <a:r>
              <a:rPr lang="es-CO" sz="1400" dirty="0" err="1"/>
              <a:t>Founder</a:t>
            </a:r>
            <a:endParaRPr lang="es-CO"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áfico 23" descr="Connections contorn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64173" y="3560092"/>
            <a:ext cx="1429628" cy="1429628"/>
          </a:xfrm>
          <a:prstGeom prst="rect">
            <a:avLst/>
          </a:prstGeom>
          <a:effectLst>
            <a:glow rad="101600">
              <a:schemeClr val="bg1">
                <a:alpha val="30000"/>
              </a:schemeClr>
            </a:glow>
          </a:effectLst>
        </p:spPr>
      </p:pic>
      <p:sp>
        <p:nvSpPr>
          <p:cNvPr id="2" name="Título 1"/>
          <p:cNvSpPr>
            <a:spLocks noGrp="1"/>
          </p:cNvSpPr>
          <p:nvPr>
            <p:ph type="title"/>
          </p:nvPr>
        </p:nvSpPr>
        <p:spPr>
          <a:xfrm>
            <a:off x="710184" y="17654"/>
            <a:ext cx="10515600" cy="1325563"/>
          </a:xfrm>
        </p:spPr>
        <p:txBody>
          <a:bodyPr>
            <a:normAutofit/>
          </a:bodyPr>
          <a:lstStyle/>
          <a:p>
            <a:r>
              <a:rPr lang="es-CO" sz="2400" dirty="0">
                <a:solidFill>
                  <a:schemeClr val="bg1"/>
                </a:solidFill>
              </a:rPr>
              <a:t>XSync – Acerca de nosotros</a:t>
            </a:r>
            <a:endParaRPr lang="es-CO" sz="2400" dirty="0">
              <a:solidFill>
                <a:schemeClr val="bg1"/>
              </a:solidFill>
            </a:endParaRPr>
          </a:p>
        </p:txBody>
      </p:sp>
      <p:sp>
        <p:nvSpPr>
          <p:cNvPr id="5" name="Marcador de contenido 4"/>
          <p:cNvSpPr>
            <a:spLocks noGrp="1"/>
          </p:cNvSpPr>
          <p:nvPr>
            <p:ph idx="1"/>
          </p:nvPr>
        </p:nvSpPr>
        <p:spPr>
          <a:xfrm>
            <a:off x="710183" y="1343218"/>
            <a:ext cx="10202231" cy="2164914"/>
          </a:xfrm>
        </p:spPr>
        <p:txBody>
          <a:bodyPr>
            <a:noAutofit/>
          </a:bodyPr>
          <a:lstStyle/>
          <a:p>
            <a:r>
              <a:rPr lang="es-CO" sz="1700" dirty="0">
                <a:solidFill>
                  <a:schemeClr val="bg1"/>
                </a:solidFill>
              </a:rPr>
              <a:t>Somos una empresa que provee servicios especializados de consultoría y asistencia en:</a:t>
            </a:r>
            <a:endParaRPr lang="es-CO" sz="1700" dirty="0">
              <a:solidFill>
                <a:schemeClr val="bg1"/>
              </a:solidFill>
            </a:endParaRPr>
          </a:p>
          <a:p>
            <a:pPr lvl="1"/>
            <a:r>
              <a:rPr lang="es-CO" sz="1700" dirty="0" err="1">
                <a:solidFill>
                  <a:schemeClr val="bg1"/>
                </a:solidFill>
              </a:rPr>
              <a:t>MuleSoft</a:t>
            </a:r>
            <a:endParaRPr lang="es-CO" sz="1700" dirty="0">
              <a:solidFill>
                <a:schemeClr val="bg1"/>
              </a:solidFill>
            </a:endParaRPr>
          </a:p>
          <a:p>
            <a:pPr lvl="1"/>
            <a:r>
              <a:rPr lang="es-CO" sz="1700" dirty="0" err="1">
                <a:solidFill>
                  <a:schemeClr val="bg1"/>
                </a:solidFill>
              </a:rPr>
              <a:t>Boomi</a:t>
            </a:r>
            <a:endParaRPr lang="es-CO" sz="1700" dirty="0">
              <a:solidFill>
                <a:schemeClr val="bg1"/>
              </a:solidFill>
            </a:endParaRPr>
          </a:p>
          <a:p>
            <a:pPr lvl="1"/>
            <a:r>
              <a:rPr lang="es-CO" sz="1700" dirty="0">
                <a:solidFill>
                  <a:schemeClr val="bg1"/>
                </a:solidFill>
              </a:rPr>
              <a:t>SAP </a:t>
            </a:r>
            <a:r>
              <a:rPr lang="es-CO" sz="1700" dirty="0" err="1">
                <a:solidFill>
                  <a:schemeClr val="bg1"/>
                </a:solidFill>
              </a:rPr>
              <a:t>SuccessFactors</a:t>
            </a:r>
            <a:endParaRPr lang="es-CO" sz="1700" dirty="0">
              <a:solidFill>
                <a:schemeClr val="bg1"/>
              </a:solidFill>
            </a:endParaRPr>
          </a:p>
          <a:p>
            <a:pPr lvl="1"/>
            <a:r>
              <a:rPr lang="es-CO" sz="1700" dirty="0">
                <a:solidFill>
                  <a:schemeClr val="bg1"/>
                </a:solidFill>
              </a:rPr>
              <a:t>Salesforce Marketing Cloud</a:t>
            </a:r>
            <a:endParaRPr lang="es-CO" sz="1700" dirty="0">
              <a:solidFill>
                <a:schemeClr val="bg1"/>
              </a:solidFill>
            </a:endParaRPr>
          </a:p>
          <a:p>
            <a:r>
              <a:rPr lang="es-CO" sz="1700" dirty="0">
                <a:solidFill>
                  <a:schemeClr val="bg1"/>
                </a:solidFill>
              </a:rPr>
              <a:t>Proporcionamos consultores certificados para proyectos empresariales.</a:t>
            </a:r>
            <a:endParaRPr lang="es-CO" sz="1700" dirty="0">
              <a:solidFill>
                <a:schemeClr val="bg1"/>
              </a:solidFill>
            </a:endParaRPr>
          </a:p>
          <a:p>
            <a:r>
              <a:rPr lang="es-CO" sz="1700" dirty="0">
                <a:solidFill>
                  <a:schemeClr val="bg1"/>
                </a:solidFill>
              </a:rPr>
              <a:t>Trabajamos con modelos B2B flexibles: externalización, servicios gestionados y </a:t>
            </a:r>
            <a:r>
              <a:rPr lang="es-CO" sz="1700" dirty="0" err="1">
                <a:solidFill>
                  <a:schemeClr val="bg1"/>
                </a:solidFill>
              </a:rPr>
              <a:t>staffing</a:t>
            </a:r>
            <a:r>
              <a:rPr lang="es-CO" sz="1700" dirty="0">
                <a:solidFill>
                  <a:schemeClr val="bg1"/>
                </a:solidFill>
              </a:rPr>
              <a:t>.</a:t>
            </a:r>
            <a:endParaRPr lang="es-CO" sz="1700" dirty="0">
              <a:solidFill>
                <a:schemeClr val="bg1"/>
              </a:solidFill>
            </a:endParaRPr>
          </a:p>
        </p:txBody>
      </p:sp>
      <p:sp>
        <p:nvSpPr>
          <p:cNvPr id="31" name="CuadroTexto 30"/>
          <p:cNvSpPr txBox="1"/>
          <p:nvPr/>
        </p:nvSpPr>
        <p:spPr>
          <a:xfrm>
            <a:off x="7331147" y="4859116"/>
            <a:ext cx="2072439" cy="307777"/>
          </a:xfrm>
          <a:prstGeom prst="rect">
            <a:avLst/>
          </a:prstGeom>
          <a:noFill/>
        </p:spPr>
        <p:txBody>
          <a:bodyPr wrap="square" rtlCol="0">
            <a:spAutoFit/>
          </a:bodyPr>
          <a:lstStyle/>
          <a:p>
            <a:r>
              <a:rPr lang="es-CO" sz="1400" i="1" dirty="0">
                <a:solidFill>
                  <a:schemeClr val="bg1"/>
                </a:solidFill>
              </a:rPr>
              <a:t>Entorno empresarial</a:t>
            </a:r>
            <a:endParaRPr lang="es-CO" sz="1400" i="1" dirty="0">
              <a:solidFill>
                <a:schemeClr val="bg1"/>
              </a:solidFill>
            </a:endParaRPr>
          </a:p>
        </p:txBody>
      </p:sp>
      <p:sp>
        <p:nvSpPr>
          <p:cNvPr id="33" name="CuadroTexto 32"/>
          <p:cNvSpPr txBox="1">
            <a:spLocks noChangeAspect="1"/>
          </p:cNvSpPr>
          <p:nvPr/>
        </p:nvSpPr>
        <p:spPr>
          <a:xfrm>
            <a:off x="1735292" y="4047024"/>
            <a:ext cx="2851102" cy="307777"/>
          </a:xfrm>
          <a:prstGeom prst="rect">
            <a:avLst/>
          </a:prstGeom>
          <a:noFill/>
        </p:spPr>
        <p:txBody>
          <a:bodyPr wrap="none" rtlCol="0">
            <a:spAutoFit/>
          </a:bodyPr>
          <a:lstStyle/>
          <a:p>
            <a:r>
              <a:rPr lang="es-CO" sz="1400" i="1" dirty="0"/>
              <a:t>Recursos especializados de XSync</a:t>
            </a:r>
            <a:endParaRPr lang="es-CO" sz="1400" i="1" dirty="0"/>
          </a:p>
        </p:txBody>
      </p:sp>
      <p:pic>
        <p:nvPicPr>
          <p:cNvPr id="39" name="Gráfico 38" descr="Cycle with people contorno"/>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73774" y="4460838"/>
            <a:ext cx="1104331" cy="1104331"/>
          </a:xfrm>
          <a:prstGeom prst="rect">
            <a:avLst/>
          </a:prstGeom>
          <a:effectLst>
            <a:glow rad="101600">
              <a:schemeClr val="bg1">
                <a:alpha val="30000"/>
              </a:schemeClr>
            </a:glow>
          </a:effectLst>
        </p:spPr>
      </p:pic>
      <p:pic>
        <p:nvPicPr>
          <p:cNvPr id="43" name="Gráfico 42" descr="Arrow Right contorno"/>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73362" y="4354801"/>
            <a:ext cx="1210368" cy="1210368"/>
          </a:xfrm>
          <a:prstGeom prst="rect">
            <a:avLst/>
          </a:prstGeom>
          <a:effectLst>
            <a:glow>
              <a:schemeClr val="bg1"/>
            </a:glow>
          </a:effectLst>
        </p:spPr>
      </p:pic>
      <p:pic>
        <p:nvPicPr>
          <p:cNvPr id="47" name="Gráfico 46" descr="Connections contorno"/>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flipH="1">
            <a:off x="8582069" y="3402843"/>
            <a:ext cx="1658020" cy="1658020"/>
          </a:xfrm>
          <a:prstGeom prst="rect">
            <a:avLst/>
          </a:prstGeom>
          <a:effectLst>
            <a:glow rad="101600">
              <a:schemeClr val="bg1">
                <a:alpha val="30000"/>
              </a:schemeClr>
            </a:glow>
          </a:effectLst>
        </p:spPr>
      </p:pic>
      <p:pic>
        <p:nvPicPr>
          <p:cNvPr id="48" name="Gráfico 47" descr="Connections contorno"/>
          <p:cNvPicPr>
            <a:picLocks noChangeAspect="1"/>
          </p:cNvPicPr>
          <p:nvPr/>
        </p:nvPicPr>
        <p:blipFill>
          <a:blip r:embed="rId1">
            <a:extLst>
              <a:ext uri="{96DAC541-7B7A-43D3-8B79-37D633B846F1}">
                <asvg:svgBlip xmlns:asvg="http://schemas.microsoft.com/office/drawing/2016/SVG/main" r:embed="rId8"/>
              </a:ext>
            </a:extLst>
          </a:blip>
          <a:stretch>
            <a:fillRect/>
          </a:stretch>
        </p:blipFill>
        <p:spPr>
          <a:xfrm>
            <a:off x="8481027" y="5166893"/>
            <a:ext cx="1149146" cy="1149146"/>
          </a:xfrm>
          <a:prstGeom prst="rect">
            <a:avLst/>
          </a:prstGeom>
          <a:effectLst>
            <a:glow rad="101600">
              <a:schemeClr val="bg1">
                <a:alpha val="30000"/>
              </a:schemeClr>
            </a:glow>
          </a:effectLst>
        </p:spPr>
      </p:pic>
      <p:pic>
        <p:nvPicPr>
          <p:cNvPr id="51" name="Gráfico 50" descr="Connections contorno"/>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flipH="1">
            <a:off x="5631426" y="5060863"/>
            <a:ext cx="2623014" cy="2623014"/>
          </a:xfrm>
          <a:prstGeom prst="rect">
            <a:avLst/>
          </a:prstGeom>
          <a:effectLst>
            <a:glow rad="101600">
              <a:schemeClr val="bg1">
                <a:alpha val="30000"/>
              </a:schemeClr>
            </a:glo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a:t>XSync – Acerca de nosotros</a:t>
            </a:r>
            <a:endParaRPr lang="es-CO" sz="2400" dirty="0"/>
          </a:p>
        </p:txBody>
      </p:sp>
      <p:sp>
        <p:nvSpPr>
          <p:cNvPr id="5" name="Marcador de contenido 4"/>
          <p:cNvSpPr>
            <a:spLocks noGrp="1"/>
          </p:cNvSpPr>
          <p:nvPr>
            <p:ph idx="1"/>
          </p:nvPr>
        </p:nvSpPr>
        <p:spPr>
          <a:xfrm>
            <a:off x="710183" y="1343218"/>
            <a:ext cx="9478845" cy="2164914"/>
          </a:xfrm>
        </p:spPr>
        <p:txBody>
          <a:bodyPr>
            <a:noAutofit/>
          </a:bodyPr>
          <a:lstStyle/>
          <a:p>
            <a:r>
              <a:rPr lang="es-CO" sz="1700" dirty="0"/>
              <a:t>Amplia experiencia en:</a:t>
            </a:r>
            <a:endParaRPr lang="es-CO" sz="1700" dirty="0"/>
          </a:p>
          <a:p>
            <a:pPr lvl="1"/>
            <a:r>
              <a:rPr lang="es-CO" sz="1700" dirty="0" err="1"/>
              <a:t>MuleSoft</a:t>
            </a:r>
            <a:r>
              <a:rPr lang="es-CO" sz="1700" dirty="0"/>
              <a:t> </a:t>
            </a:r>
            <a:r>
              <a:rPr lang="es-CO" sz="1600" dirty="0"/>
              <a:t>API-led </a:t>
            </a:r>
            <a:r>
              <a:rPr lang="es-CO" sz="1600" dirty="0" err="1"/>
              <a:t>connectivity</a:t>
            </a:r>
            <a:r>
              <a:rPr lang="es-CO" sz="1600" dirty="0"/>
              <a:t>, </a:t>
            </a:r>
            <a:r>
              <a:rPr lang="es-CO" sz="1700" dirty="0"/>
              <a:t>, </a:t>
            </a:r>
            <a:r>
              <a:rPr lang="es-CO" sz="1700" dirty="0" err="1"/>
              <a:t>AnyPoint</a:t>
            </a:r>
            <a:r>
              <a:rPr lang="es-CO" sz="1700" dirty="0"/>
              <a:t> </a:t>
            </a:r>
            <a:r>
              <a:rPr lang="es-CO" sz="1700" dirty="0" err="1"/>
              <a:t>Platform</a:t>
            </a:r>
            <a:r>
              <a:rPr lang="es-CO" sz="1700" dirty="0"/>
              <a:t> – </a:t>
            </a:r>
            <a:r>
              <a:rPr lang="es-CO" sz="1700" dirty="0" err="1"/>
              <a:t>CloudHub</a:t>
            </a:r>
            <a:r>
              <a:rPr lang="es-CO" sz="1700" dirty="0"/>
              <a:t>, </a:t>
            </a:r>
            <a:r>
              <a:rPr lang="es-CO" sz="1700" dirty="0" err="1"/>
              <a:t>Hybrid</a:t>
            </a:r>
            <a:r>
              <a:rPr lang="es-CO" sz="1700" dirty="0"/>
              <a:t>, RTF)</a:t>
            </a:r>
            <a:endParaRPr lang="es-CO" sz="1700" dirty="0"/>
          </a:p>
          <a:p>
            <a:pPr lvl="1"/>
            <a:r>
              <a:rPr lang="es-CO" sz="1700" dirty="0" err="1"/>
              <a:t>Boomi</a:t>
            </a:r>
            <a:r>
              <a:rPr lang="es-CO" sz="1700" dirty="0"/>
              <a:t> (</a:t>
            </a:r>
            <a:r>
              <a:rPr lang="es-CO" sz="1700" dirty="0" err="1"/>
              <a:t>AtomSphere</a:t>
            </a:r>
            <a:r>
              <a:rPr lang="es-CO" sz="1700" dirty="0"/>
              <a:t> - </a:t>
            </a:r>
            <a:r>
              <a:rPr lang="es-CO" sz="1600" dirty="0" err="1"/>
              <a:t>Integration</a:t>
            </a:r>
            <a:r>
              <a:rPr lang="es-CO" sz="1700" dirty="0"/>
              <a:t>, conectores)</a:t>
            </a:r>
            <a:endParaRPr lang="es-CO" sz="1700" dirty="0"/>
          </a:p>
          <a:p>
            <a:pPr lvl="1"/>
            <a:r>
              <a:rPr lang="es-CO" sz="1700" dirty="0"/>
              <a:t>SAP </a:t>
            </a:r>
            <a:r>
              <a:rPr lang="es-CO" sz="1700" dirty="0" err="1"/>
              <a:t>SuccessFactors</a:t>
            </a:r>
            <a:r>
              <a:rPr lang="es-CO" sz="1700" dirty="0"/>
              <a:t> (Todos los módulos)</a:t>
            </a:r>
            <a:endParaRPr lang="es-CO" sz="1700" dirty="0"/>
          </a:p>
          <a:p>
            <a:pPr lvl="1"/>
            <a:r>
              <a:rPr lang="es-CO" sz="1700" dirty="0"/>
              <a:t>Salesforce Marketing Cloud (</a:t>
            </a:r>
            <a:r>
              <a:rPr lang="es-CO" sz="1600" dirty="0" err="1"/>
              <a:t>Customer</a:t>
            </a:r>
            <a:r>
              <a:rPr lang="es-CO" sz="1600" dirty="0"/>
              <a:t> </a:t>
            </a:r>
            <a:r>
              <a:rPr lang="es-CO" sz="1600" dirty="0" err="1"/>
              <a:t>journeys</a:t>
            </a:r>
            <a:r>
              <a:rPr lang="es-CO" sz="1700" dirty="0"/>
              <a:t>, automatización, personalización)</a:t>
            </a:r>
            <a:endParaRPr lang="es-CO" sz="1700" dirty="0"/>
          </a:p>
          <a:p>
            <a:r>
              <a:rPr lang="es-CO" sz="1700" dirty="0"/>
              <a:t>Consultores con certificaciones oficiales y experiencia en el mundo real.</a:t>
            </a:r>
            <a:endParaRPr lang="es-CO" sz="1700" dirty="0"/>
          </a:p>
          <a:p>
            <a:r>
              <a:rPr lang="es-CO" sz="1700" dirty="0"/>
              <a:t>Equipos alineados con las zonas horarias de Norteamérica (PT y CT) para una colaboración fluida.</a:t>
            </a:r>
            <a:endParaRPr lang="es-CO" sz="1700" dirty="0"/>
          </a:p>
        </p:txBody>
      </p:sp>
      <p:pic>
        <p:nvPicPr>
          <p:cNvPr id="6" name="Gráfico 5" descr="North America con relleno sólid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434992" y="0"/>
            <a:ext cx="3474720" cy="3474720"/>
          </a:xfrm>
          <a:prstGeom prst="rect">
            <a:avLst/>
          </a:prstGeom>
          <a:effectLst>
            <a:glow rad="101600">
              <a:schemeClr val="bg1">
                <a:alpha val="30000"/>
              </a:schemeClr>
            </a:glow>
          </a:effectLst>
        </p:spPr>
      </p:pic>
      <p:pic>
        <p:nvPicPr>
          <p:cNvPr id="8" name="Gráfico 7" descr="South America con relleno sólido"/>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31680" y="2484638"/>
            <a:ext cx="2560320" cy="2560320"/>
          </a:xfrm>
          <a:prstGeom prst="rect">
            <a:avLst/>
          </a:prstGeom>
          <a:effectLst>
            <a:glow rad="101600">
              <a:schemeClr val="bg1">
                <a:alpha val="30000"/>
              </a:schemeClr>
            </a:glow>
          </a:effectLst>
        </p:spPr>
      </p:pic>
      <p:grpSp>
        <p:nvGrpSpPr>
          <p:cNvPr id="13" name="Grupo 12"/>
          <p:cNvGrpSpPr>
            <a:grpSpLocks noChangeAspect="1"/>
          </p:cNvGrpSpPr>
          <p:nvPr/>
        </p:nvGrpSpPr>
        <p:grpSpPr>
          <a:xfrm>
            <a:off x="2273062" y="4143182"/>
            <a:ext cx="5360814" cy="1371600"/>
            <a:chOff x="1915093" y="4142436"/>
            <a:chExt cx="6200815" cy="1586520"/>
          </a:xfrm>
          <a:effectLst>
            <a:glow rad="101600">
              <a:schemeClr val="bg1">
                <a:alpha val="30106"/>
              </a:schemeClr>
            </a:glow>
            <a:reflection blurRad="6350" stA="50000" endA="300" endPos="55000" dir="5400000" sy="-100000" algn="bl" rotWithShape="0"/>
          </a:effectLst>
        </p:grpSpPr>
        <p:sp>
          <p:nvSpPr>
            <p:cNvPr id="9" name="Rectángulo 8"/>
            <p:cNvSpPr/>
            <p:nvPr/>
          </p:nvSpPr>
          <p:spPr>
            <a:xfrm>
              <a:off x="1915093" y="4143182"/>
              <a:ext cx="1057183" cy="1585774"/>
            </a:xfrm>
            <a:prstGeom prst="rect">
              <a:avLst/>
            </a:prstGeom>
            <a:blipFill>
              <a:blip r:embed="rId5">
                <a:extLst>
                  <a:ext uri="{28A0092B-C50C-407E-A947-70E740481C1C}">
                    <a14:useLocalDpi xmlns:a14="http://schemas.microsoft.com/office/drawing/2010/main" val="0"/>
                  </a:ext>
                </a:extLst>
              </a:blip>
              <a:srcRect/>
              <a:stretch>
                <a:fillRect l="-25000" r="-25000"/>
              </a:stretch>
            </a:blipFill>
            <a:ln>
              <a:solidFill>
                <a:srgbClr val="5A52A1"/>
              </a:solidFill>
            </a:ln>
          </p:spPr>
          <p:style>
            <a:lnRef idx="2">
              <a:schemeClr val="accent5">
                <a:shade val="80000"/>
                <a:hueOff val="0"/>
                <a:satOff val="0"/>
                <a:lumOff val="0"/>
                <a:alphaOff val="0"/>
              </a:schemeClr>
            </a:lnRef>
            <a:fillRef idx="1">
              <a:scrgbClr r="0" g="0" b="0"/>
            </a:fillRef>
            <a:effectRef idx="0">
              <a:schemeClr val="accent5">
                <a:tint val="40000"/>
                <a:hueOff val="0"/>
                <a:satOff val="0"/>
                <a:lumOff val="0"/>
                <a:alphaOff val="0"/>
              </a:schemeClr>
            </a:effectRef>
            <a:fontRef idx="minor">
              <a:schemeClr val="lt1">
                <a:hueOff val="0"/>
                <a:satOff val="0"/>
                <a:lumOff val="0"/>
                <a:alphaOff val="0"/>
              </a:schemeClr>
            </a:fontRef>
          </p:style>
          <p:txBody>
            <a:bodyPr/>
            <a:lstStyle/>
            <a:p>
              <a:endParaRPr lang="es-CO"/>
            </a:p>
          </p:txBody>
        </p:sp>
        <p:sp>
          <p:nvSpPr>
            <p:cNvPr id="10" name="Rectángulo 9"/>
            <p:cNvSpPr/>
            <p:nvPr/>
          </p:nvSpPr>
          <p:spPr>
            <a:xfrm>
              <a:off x="3629637" y="4143182"/>
              <a:ext cx="1057183" cy="1585774"/>
            </a:xfrm>
            <a:prstGeom prst="rect">
              <a:avLst/>
            </a:prstGeom>
            <a:blipFill>
              <a:blip r:embed="rId6">
                <a:extLst>
                  <a:ext uri="{28A0092B-C50C-407E-A947-70E740481C1C}">
                    <a14:useLocalDpi xmlns:a14="http://schemas.microsoft.com/office/drawing/2010/main" val="0"/>
                  </a:ext>
                </a:extLst>
              </a:blip>
              <a:srcRect/>
              <a:stretch>
                <a:fillRect l="-93000" r="-93000"/>
              </a:stretch>
            </a:blipFill>
            <a:ln>
              <a:solidFill>
                <a:srgbClr val="5A52A1"/>
              </a:solidFill>
            </a:ln>
          </p:spPr>
          <p:style>
            <a:lnRef idx="2">
              <a:schemeClr val="accent5">
                <a:shade val="80000"/>
                <a:hueOff val="0"/>
                <a:satOff val="0"/>
                <a:lumOff val="0"/>
                <a:alphaOff val="0"/>
              </a:schemeClr>
            </a:lnRef>
            <a:fillRef idx="1">
              <a:scrgbClr r="0" g="0" b="0"/>
            </a:fillRef>
            <a:effectRef idx="0">
              <a:schemeClr val="accent5">
                <a:tint val="40000"/>
                <a:hueOff val="0"/>
                <a:satOff val="0"/>
                <a:lumOff val="0"/>
                <a:alphaOff val="0"/>
              </a:schemeClr>
            </a:effectRef>
            <a:fontRef idx="minor">
              <a:schemeClr val="lt1">
                <a:hueOff val="0"/>
                <a:satOff val="0"/>
                <a:lumOff val="0"/>
                <a:alphaOff val="0"/>
              </a:schemeClr>
            </a:fontRef>
          </p:style>
          <p:txBody>
            <a:bodyPr/>
            <a:lstStyle/>
            <a:p>
              <a:endParaRPr lang="es-CO"/>
            </a:p>
          </p:txBody>
        </p:sp>
        <p:sp>
          <p:nvSpPr>
            <p:cNvPr id="11" name="Rectángulo 10"/>
            <p:cNvSpPr/>
            <p:nvPr/>
          </p:nvSpPr>
          <p:spPr>
            <a:xfrm>
              <a:off x="5344181" y="4142436"/>
              <a:ext cx="1057183" cy="1586520"/>
            </a:xfrm>
            <a:prstGeom prst="rect">
              <a:avLst/>
            </a:prstGeom>
            <a:blipFill>
              <a:blip r:embed="rId7">
                <a:extLst>
                  <a:ext uri="{28A0092B-C50C-407E-A947-70E740481C1C}">
                    <a14:useLocalDpi xmlns:a14="http://schemas.microsoft.com/office/drawing/2010/main" val="0"/>
                  </a:ext>
                </a:extLst>
              </a:blip>
              <a:srcRect/>
              <a:stretch>
                <a:fillRect l="-25000" r="-25000"/>
              </a:stretch>
            </a:blipFill>
            <a:ln>
              <a:solidFill>
                <a:srgbClr val="5A52A1"/>
              </a:solidFill>
            </a:ln>
          </p:spPr>
          <p:style>
            <a:lnRef idx="2">
              <a:schemeClr val="accent5">
                <a:shade val="80000"/>
                <a:hueOff val="0"/>
                <a:satOff val="0"/>
                <a:lumOff val="0"/>
                <a:alphaOff val="0"/>
              </a:schemeClr>
            </a:lnRef>
            <a:fillRef idx="1">
              <a:scrgbClr r="0" g="0" b="0"/>
            </a:fillRef>
            <a:effectRef idx="0">
              <a:schemeClr val="accent5">
                <a:tint val="40000"/>
                <a:hueOff val="0"/>
                <a:satOff val="0"/>
                <a:lumOff val="0"/>
                <a:alphaOff val="0"/>
              </a:schemeClr>
            </a:effectRef>
            <a:fontRef idx="minor">
              <a:schemeClr val="lt1">
                <a:hueOff val="0"/>
                <a:satOff val="0"/>
                <a:lumOff val="0"/>
                <a:alphaOff val="0"/>
              </a:schemeClr>
            </a:fontRef>
          </p:style>
          <p:txBody>
            <a:bodyPr/>
            <a:lstStyle/>
            <a:p>
              <a:endParaRPr lang="es-CO"/>
            </a:p>
          </p:txBody>
        </p:sp>
        <p:sp>
          <p:nvSpPr>
            <p:cNvPr id="12" name="Rectángulo 11"/>
            <p:cNvSpPr/>
            <p:nvPr/>
          </p:nvSpPr>
          <p:spPr>
            <a:xfrm>
              <a:off x="7058725" y="4143182"/>
              <a:ext cx="1057183" cy="1585774"/>
            </a:xfrm>
            <a:prstGeom prst="rect">
              <a:avLst/>
            </a:prstGeom>
            <a:blipFill>
              <a:blip r:embed="rId8">
                <a:extLst>
                  <a:ext uri="{28A0092B-C50C-407E-A947-70E740481C1C}">
                    <a14:useLocalDpi xmlns:a14="http://schemas.microsoft.com/office/drawing/2010/main" val="0"/>
                  </a:ext>
                </a:extLst>
              </a:blip>
              <a:srcRect/>
              <a:stretch>
                <a:fillRect l="-25000" r="-25000"/>
              </a:stretch>
            </a:blipFill>
            <a:ln>
              <a:solidFill>
                <a:srgbClr val="5A52A1"/>
              </a:solidFill>
            </a:ln>
          </p:spPr>
          <p:style>
            <a:lnRef idx="2">
              <a:schemeClr val="accent5">
                <a:shade val="80000"/>
                <a:hueOff val="0"/>
                <a:satOff val="0"/>
                <a:lumOff val="0"/>
                <a:alphaOff val="0"/>
              </a:schemeClr>
            </a:lnRef>
            <a:fillRef idx="1">
              <a:scrgbClr r="0" g="0" b="0"/>
            </a:fillRef>
            <a:effectRef idx="0">
              <a:schemeClr val="accent5">
                <a:tint val="40000"/>
                <a:hueOff val="0"/>
                <a:satOff val="0"/>
                <a:lumOff val="0"/>
                <a:alphaOff val="0"/>
              </a:schemeClr>
            </a:effectRef>
            <a:fontRef idx="minor">
              <a:schemeClr val="lt1">
                <a:hueOff val="0"/>
                <a:satOff val="0"/>
                <a:lumOff val="0"/>
                <a:alphaOff val="0"/>
              </a:schemeClr>
            </a:fontRef>
          </p:style>
          <p:txBody>
            <a:bodyPr/>
            <a:lstStyle/>
            <a:p>
              <a:endParaRPr lang="es-CO"/>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4000" dirty="0" err="1"/>
              <a:t>MuleSoft</a:t>
            </a:r>
            <a:r>
              <a:rPr lang="es-CO" sz="4000" dirty="0"/>
              <a:t> – Introducción</a:t>
            </a:r>
            <a:endParaRPr lang="es-CO" sz="4000" dirty="0"/>
          </a:p>
        </p:txBody>
      </p:sp>
      <p:sp>
        <p:nvSpPr>
          <p:cNvPr id="3" name="Marcador de texto 2"/>
          <p:cNvSpPr>
            <a:spLocks noGrp="1"/>
          </p:cNvSpPr>
          <p:nvPr>
            <p:ph type="body" idx="1"/>
          </p:nvPr>
        </p:nvSpPr>
        <p:spPr/>
        <p:txBody>
          <a:bodyPr>
            <a:normAutofit/>
          </a:bodyPr>
          <a:lstStyle/>
          <a:p>
            <a:r>
              <a:rPr lang="es-CO" i="1" dirty="0"/>
              <a:t>¿Qué es </a:t>
            </a:r>
            <a:r>
              <a:rPr lang="es-CO" i="1" dirty="0" err="1"/>
              <a:t>MuleSoft</a:t>
            </a:r>
            <a:r>
              <a:rPr lang="es-CO" i="1" dirty="0"/>
              <a:t>?, ¿Por qué aprender </a:t>
            </a:r>
            <a:r>
              <a:rPr lang="es-CO" i="1" dirty="0" err="1"/>
              <a:t>MuleSoft</a:t>
            </a:r>
            <a:r>
              <a:rPr lang="es-CO" i="1" dirty="0"/>
              <a:t>?</a:t>
            </a:r>
            <a:endParaRPr lang="es-CO" sz="1800"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t>MuleSoft</a:t>
            </a:r>
            <a:r>
              <a:rPr lang="es-CO" sz="2400" dirty="0"/>
              <a:t> – Introducción</a:t>
            </a:r>
            <a:endParaRPr lang="es-CO" sz="2400" dirty="0"/>
          </a:p>
        </p:txBody>
      </p:sp>
      <p:sp>
        <p:nvSpPr>
          <p:cNvPr id="5" name="Marcador de contenido 4"/>
          <p:cNvSpPr>
            <a:spLocks noGrp="1"/>
          </p:cNvSpPr>
          <p:nvPr>
            <p:ph idx="1"/>
          </p:nvPr>
        </p:nvSpPr>
        <p:spPr>
          <a:xfrm>
            <a:off x="710184" y="1343218"/>
            <a:ext cx="10435144" cy="2296798"/>
          </a:xfrm>
        </p:spPr>
        <p:txBody>
          <a:bodyPr>
            <a:noAutofit/>
          </a:bodyPr>
          <a:lstStyle/>
          <a:p>
            <a:pPr algn="just"/>
            <a:r>
              <a:rPr lang="es-CO" sz="1600" dirty="0" err="1"/>
              <a:t>MuleSoft</a:t>
            </a:r>
            <a:r>
              <a:rPr lang="es-CO" sz="1600" dirty="0"/>
              <a:t> es una plataforma de integración que permite a las organizaciones conectar aplicaciones, datos y dispositivos en entornos locales y en la nube. Proporciona las herramientas y la arquitectura necesarias para crear </a:t>
            </a:r>
            <a:r>
              <a:rPr lang="es-CO" sz="1600" dirty="0" err="1"/>
              <a:t>APIs</a:t>
            </a:r>
            <a:r>
              <a:rPr lang="es-CO" sz="1600" dirty="0"/>
              <a:t> e integraciones reutilizables que respaldan la transformación digital y la integración de sistemas escalables.</a:t>
            </a:r>
            <a:endParaRPr lang="es-CO" sz="1600" dirty="0"/>
          </a:p>
          <a:p>
            <a:pPr algn="just"/>
            <a:r>
              <a:rPr lang="es-CO" sz="1600" dirty="0"/>
              <a:t>El núcleo de </a:t>
            </a:r>
            <a:r>
              <a:rPr lang="es-CO" sz="1600" dirty="0" err="1"/>
              <a:t>MuleSoft</a:t>
            </a:r>
            <a:r>
              <a:rPr lang="es-CO" sz="1600" dirty="0"/>
              <a:t> es </a:t>
            </a:r>
            <a:r>
              <a:rPr lang="es-CO" sz="1600" dirty="0" err="1"/>
              <a:t>Anypoint</a:t>
            </a:r>
            <a:r>
              <a:rPr lang="es-CO" sz="1600" dirty="0"/>
              <a:t> </a:t>
            </a:r>
            <a:r>
              <a:rPr lang="es-CO" sz="1600" dirty="0" err="1"/>
              <a:t>Platform</a:t>
            </a:r>
            <a:r>
              <a:rPr lang="es-CO" sz="1600" dirty="0"/>
              <a:t>, una solución de integración unificada para el diseño, desarrollo, implementación y gestión de API.</a:t>
            </a:r>
            <a:endParaRPr lang="es-CO" sz="1600" dirty="0"/>
          </a:p>
          <a:p>
            <a:pPr algn="just"/>
            <a:r>
              <a:rPr lang="es-CO" sz="1600" dirty="0" err="1"/>
              <a:t>MuleSoft</a:t>
            </a:r>
            <a:r>
              <a:rPr lang="es-CO" sz="1600" dirty="0"/>
              <a:t> se utiliza ampliamente en entornos empresariales para crear soluciones de integración robustas y flexibles. Aprender </a:t>
            </a:r>
            <a:r>
              <a:rPr lang="es-CO" sz="1600" dirty="0" err="1"/>
              <a:t>MuleSoft</a:t>
            </a:r>
            <a:r>
              <a:rPr lang="es-CO" sz="1600" dirty="0"/>
              <a:t> ofrece las siguientes ventajas:</a:t>
            </a:r>
            <a:endParaRPr lang="es-CO" sz="1600" dirty="0"/>
          </a:p>
        </p:txBody>
      </p:sp>
      <p:graphicFrame>
        <p:nvGraphicFramePr>
          <p:cNvPr id="8" name="Tabla 7"/>
          <p:cNvGraphicFramePr>
            <a:graphicFrameLocks noGrp="1"/>
          </p:cNvGraphicFramePr>
          <p:nvPr/>
        </p:nvGraphicFramePr>
        <p:xfrm>
          <a:off x="2496000" y="3654330"/>
          <a:ext cx="7200000" cy="2560191"/>
        </p:xfrm>
        <a:graphic>
          <a:graphicData uri="http://schemas.openxmlformats.org/drawingml/2006/table">
            <a:tbl>
              <a:tblPr/>
              <a:tblGrid>
                <a:gridCol w="2246121"/>
                <a:gridCol w="4953879"/>
              </a:tblGrid>
              <a:tr h="274243">
                <a:tc>
                  <a:txBody>
                    <a:bodyPr/>
                    <a:lstStyle/>
                    <a:p>
                      <a:pPr>
                        <a:buNone/>
                      </a:pPr>
                      <a:r>
                        <a:rPr lang="es-CO" sz="1200" b="1"/>
                        <a:t>Beneficio</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b="1" dirty="0"/>
                        <a:t>Descripción</a:t>
                      </a:r>
                      <a:endParaRPr 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CO" sz="1200"/>
                        <a:t>Alta demanda</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dirty="0"/>
                        <a:t>Las habilidades en </a:t>
                      </a:r>
                      <a:r>
                        <a:rPr lang="es-CO" sz="1200" dirty="0" err="1"/>
                        <a:t>MuleSoft</a:t>
                      </a:r>
                      <a:r>
                        <a:rPr lang="es-CO" sz="1200" dirty="0"/>
                        <a:t> son muy solicitadas en diversas industrias.</a:t>
                      </a:r>
                      <a:endParaRPr 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CO" sz="1200" dirty="0"/>
                        <a:t>Versátil</a:t>
                      </a:r>
                      <a:endParaRPr 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dirty="0"/>
                        <a:t>Soporta REST, SOAP, bases de datos, plataformas SaaS, sistemas legados y más.</a:t>
                      </a:r>
                      <a:endParaRPr 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CO" sz="1200"/>
                        <a:t>Modular</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dirty="0"/>
                        <a:t>Permite un desarrollo rápido utilizando conectores preconstruidos y flujos reutilizables.</a:t>
                      </a:r>
                      <a:endParaRPr 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CO" sz="1200"/>
                        <a:t>Desarrollo profesional</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Ofrece rutas de certificación valiosas reconocidas en entornos empresariales.</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CO" sz="1200"/>
                        <a:t>Enfoque API-First</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dirty="0"/>
                        <a:t>Fomenta arquitecturas escalables y mantenibles mediante el diseño liderado por </a:t>
                      </a:r>
                      <a:r>
                        <a:rPr lang="es-CO" sz="1200" dirty="0" err="1"/>
                        <a:t>APIs</a:t>
                      </a:r>
                      <a:r>
                        <a:rPr lang="es-CO" sz="1200" dirty="0"/>
                        <a:t>.</a:t>
                      </a:r>
                      <a:endParaRPr 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t>MuleSoft</a:t>
            </a:r>
            <a:r>
              <a:rPr lang="es-CO" sz="2400" dirty="0"/>
              <a:t> – Introducción – Fundamentos de las </a:t>
            </a:r>
            <a:r>
              <a:rPr lang="es-CO" sz="2400" dirty="0" err="1"/>
              <a:t>APIs</a:t>
            </a:r>
            <a:r>
              <a:rPr lang="es-CO" sz="2400" dirty="0"/>
              <a:t> y la Integración</a:t>
            </a:r>
            <a:endParaRPr lang="es-CO" sz="2400" dirty="0"/>
          </a:p>
        </p:txBody>
      </p:sp>
      <p:sp>
        <p:nvSpPr>
          <p:cNvPr id="5" name="Marcador de contenido 4"/>
          <p:cNvSpPr>
            <a:spLocks noGrp="1"/>
          </p:cNvSpPr>
          <p:nvPr>
            <p:ph idx="1"/>
          </p:nvPr>
        </p:nvSpPr>
        <p:spPr>
          <a:xfrm>
            <a:off x="710184" y="1343218"/>
            <a:ext cx="10435144" cy="2296798"/>
          </a:xfrm>
        </p:spPr>
        <p:txBody>
          <a:bodyPr>
            <a:noAutofit/>
          </a:bodyPr>
          <a:lstStyle/>
          <a:p>
            <a:pPr algn="just"/>
            <a:r>
              <a:rPr lang="es-CO" sz="1600" dirty="0"/>
              <a:t>¿Qué es una API?</a:t>
            </a:r>
            <a:endParaRPr lang="es-CO" sz="1600" dirty="0"/>
          </a:p>
          <a:p>
            <a:pPr lvl="1" algn="just"/>
            <a:r>
              <a:rPr lang="es-CO" sz="1600" dirty="0"/>
              <a:t>API significa(</a:t>
            </a:r>
            <a:r>
              <a:rPr lang="es-CO" sz="1600" dirty="0" err="1"/>
              <a:t>Application</a:t>
            </a:r>
            <a:r>
              <a:rPr lang="es-CO" sz="1600" dirty="0"/>
              <a:t> </a:t>
            </a:r>
            <a:r>
              <a:rPr lang="es-CO" sz="1600" dirty="0" err="1"/>
              <a:t>Programming</a:t>
            </a:r>
            <a:r>
              <a:rPr lang="es-CO" sz="1600" dirty="0"/>
              <a:t> Interface) </a:t>
            </a:r>
            <a:r>
              <a:rPr lang="es-CO" sz="1600" i="1" dirty="0"/>
              <a:t>Interfaz de Programación de Aplicaciones</a:t>
            </a:r>
            <a:r>
              <a:rPr lang="es-CO" sz="1600" dirty="0"/>
              <a:t>. Puedes pensar en ella como un lenguaje común que permite que diferentes sistemas de software se comuniquen de manera fluida, sin necesidad de saber cómo está construido el otro.</a:t>
            </a:r>
            <a:endParaRPr lang="es-CO" sz="1600" dirty="0"/>
          </a:p>
          <a:p>
            <a:pPr lvl="1" algn="just"/>
            <a:r>
              <a:rPr lang="es-CO" sz="1600" dirty="0"/>
              <a:t>Más técnicamente, una API es un conjunto de reglas y protocolos que determinan cómo una aplicación puede solicitar datos de otra.</a:t>
            </a:r>
            <a:endParaRPr lang="es-CO" sz="1600" dirty="0"/>
          </a:p>
          <a:p>
            <a:pPr lvl="1" algn="just"/>
            <a:r>
              <a:rPr lang="es-CO" sz="1600" dirty="0"/>
              <a:t>En lugar de construir todo desde cero, los desarrolladores usan </a:t>
            </a:r>
            <a:r>
              <a:rPr lang="es-CO" sz="1600" dirty="0" err="1"/>
              <a:t>APIs</a:t>
            </a:r>
            <a:r>
              <a:rPr lang="es-CO" sz="1600" dirty="0"/>
              <a:t> para conectarse con sistemas ya existentes.</a:t>
            </a:r>
            <a:endParaRPr lang="es-CO" sz="1600" dirty="0"/>
          </a:p>
          <a:p>
            <a:pPr lvl="1" algn="just"/>
            <a:endParaRPr lang="es-CO" sz="1600" dirty="0"/>
          </a:p>
        </p:txBody>
      </p:sp>
      <p:graphicFrame>
        <p:nvGraphicFramePr>
          <p:cNvPr id="3" name="Tabla 2"/>
          <p:cNvGraphicFramePr>
            <a:graphicFrameLocks noGrp="1"/>
          </p:cNvGraphicFramePr>
          <p:nvPr/>
        </p:nvGraphicFramePr>
        <p:xfrm>
          <a:off x="2496000" y="3640016"/>
          <a:ext cx="7200000" cy="2339999"/>
        </p:xfrm>
        <a:graphic>
          <a:graphicData uri="http://schemas.openxmlformats.org/drawingml/2006/table">
            <a:tbl>
              <a:tblPr/>
              <a:tblGrid>
                <a:gridCol w="2400000"/>
                <a:gridCol w="2400000"/>
                <a:gridCol w="2400000"/>
              </a:tblGrid>
              <a:tr h="275513">
                <a:tc>
                  <a:txBody>
                    <a:bodyPr/>
                    <a:lstStyle/>
                    <a:p>
                      <a:pPr>
                        <a:buNone/>
                      </a:pPr>
                      <a:r>
                        <a:rPr lang="es-CO" sz="1200" b="1"/>
                        <a:t>Característica</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b="1"/>
                        <a:t>API</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b="1"/>
                        <a:t>Servicio Web</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43461">
                <a:tc>
                  <a:txBody>
                    <a:bodyPr/>
                    <a:lstStyle/>
                    <a:p>
                      <a:pPr>
                        <a:buNone/>
                      </a:pPr>
                      <a:r>
                        <a:rPr lang="es-CO" sz="1200" b="1"/>
                        <a:t>Soporte de protocolo</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HTTP, HTTPS, TCP, JMS, etc.</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Solo HTTP/HTTPS</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9188">
                <a:tc>
                  <a:txBody>
                    <a:bodyPr/>
                    <a:lstStyle/>
                    <a:p>
                      <a:pPr>
                        <a:buNone/>
                      </a:pPr>
                      <a:r>
                        <a:rPr lang="es-CO" sz="1200" b="1"/>
                        <a:t>Formato de datos</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JSON, XML, YAML, etc.</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Normalmente XML (a veces JSON)</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43461">
                <a:tc>
                  <a:txBody>
                    <a:bodyPr/>
                    <a:lstStyle/>
                    <a:p>
                      <a:pPr>
                        <a:buNone/>
                      </a:pPr>
                      <a:r>
                        <a:rPr lang="es-CO" sz="1200" b="1"/>
                        <a:t>Ámbito de uso</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Local o remoto</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Remoto (solo basado en la web)</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9188">
                <a:tc>
                  <a:txBody>
                    <a:bodyPr/>
                    <a:lstStyle/>
                    <a:p>
                      <a:pPr>
                        <a:buNone/>
                      </a:pPr>
                      <a:r>
                        <a:rPr lang="es-CO" sz="1200" b="1"/>
                        <a:t>Dependencia</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Puede o no usar internet</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Requiere acceso a internet o a red</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9188">
                <a:tc>
                  <a:txBody>
                    <a:bodyPr/>
                    <a:lstStyle/>
                    <a:p>
                      <a:pPr>
                        <a:buNone/>
                      </a:pPr>
                      <a:r>
                        <a:rPr lang="es-CO" sz="1200" b="1"/>
                        <a:t>Ejemplos</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APIs de sistema operativo, APIs REST, GraphQL, etc.</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dirty="0"/>
                        <a:t>SOAP, servicios </a:t>
                      </a:r>
                      <a:r>
                        <a:rPr lang="es-CO" sz="1200" dirty="0" err="1"/>
                        <a:t>RESTful</a:t>
                      </a:r>
                      <a:endParaRPr 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t>MuleSoft</a:t>
            </a:r>
            <a:r>
              <a:rPr lang="es-CO" sz="2400" dirty="0"/>
              <a:t> – Introducción – REST vs SOAP</a:t>
            </a:r>
            <a:endParaRPr lang="es-CO" sz="2400" dirty="0"/>
          </a:p>
        </p:txBody>
      </p:sp>
      <p:sp>
        <p:nvSpPr>
          <p:cNvPr id="5" name="Marcador de contenido 4"/>
          <p:cNvSpPr>
            <a:spLocks noGrp="1"/>
          </p:cNvSpPr>
          <p:nvPr>
            <p:ph idx="1"/>
          </p:nvPr>
        </p:nvSpPr>
        <p:spPr>
          <a:xfrm>
            <a:off x="710184" y="1343218"/>
            <a:ext cx="10435144" cy="2296798"/>
          </a:xfrm>
        </p:spPr>
        <p:txBody>
          <a:bodyPr>
            <a:noAutofit/>
          </a:bodyPr>
          <a:lstStyle/>
          <a:p>
            <a:pPr algn="just"/>
            <a:r>
              <a:rPr lang="es-CO" sz="1600" dirty="0"/>
              <a:t>Dos enfoques principales para construir </a:t>
            </a:r>
            <a:r>
              <a:rPr lang="es-CO" sz="1600" dirty="0" err="1"/>
              <a:t>APIs</a:t>
            </a:r>
            <a:r>
              <a:rPr lang="es-CO" sz="1600" dirty="0"/>
              <a:t> basadas en la web son REST (</a:t>
            </a:r>
            <a:r>
              <a:rPr lang="es-CO" sz="1600" dirty="0" err="1"/>
              <a:t>Representational</a:t>
            </a:r>
            <a:r>
              <a:rPr lang="es-CO" sz="1600" dirty="0"/>
              <a:t> </a:t>
            </a:r>
            <a:r>
              <a:rPr lang="es-CO" sz="1600" dirty="0" err="1"/>
              <a:t>State</a:t>
            </a:r>
            <a:r>
              <a:rPr lang="es-CO" sz="1600" dirty="0"/>
              <a:t> Transfer) (</a:t>
            </a:r>
            <a:r>
              <a:rPr lang="es-CO" sz="1600" i="1" dirty="0"/>
              <a:t>Transferencia de Estado Representacional</a:t>
            </a:r>
            <a:r>
              <a:rPr lang="es-CO" sz="1600" dirty="0"/>
              <a:t>) y SOAP (Simple </a:t>
            </a:r>
            <a:r>
              <a:rPr lang="es-CO" sz="1600" dirty="0" err="1"/>
              <a:t>Object</a:t>
            </a:r>
            <a:r>
              <a:rPr lang="es-CO" sz="1600" dirty="0"/>
              <a:t> Access </a:t>
            </a:r>
            <a:r>
              <a:rPr lang="es-CO" sz="1600" dirty="0" err="1"/>
              <a:t>Protocol</a:t>
            </a:r>
            <a:r>
              <a:rPr lang="es-CO" sz="1600" dirty="0"/>
              <a:t>) (</a:t>
            </a:r>
            <a:r>
              <a:rPr lang="es-CO" sz="1600" i="1" dirty="0"/>
              <a:t>Protocolo Simple de Acceso a Objetos</a:t>
            </a:r>
            <a:r>
              <a:rPr lang="es-CO" sz="1600" dirty="0"/>
              <a:t>).</a:t>
            </a:r>
            <a:endParaRPr lang="es-CO" sz="1600" dirty="0"/>
          </a:p>
          <a:p>
            <a:pPr algn="just"/>
            <a:r>
              <a:rPr lang="es-CO" sz="1600" b="1" dirty="0" err="1"/>
              <a:t>MuleSoft</a:t>
            </a:r>
            <a:r>
              <a:rPr lang="es-CO" sz="1600" dirty="0"/>
              <a:t> es compatible con ambos: REST y SOAP, pero el desarrollo de </a:t>
            </a:r>
            <a:r>
              <a:rPr lang="es-CO" sz="1600" dirty="0" err="1"/>
              <a:t>APIs</a:t>
            </a:r>
            <a:r>
              <a:rPr lang="es-CO" sz="1600" dirty="0"/>
              <a:t> comúnmente utiliza </a:t>
            </a:r>
            <a:r>
              <a:rPr lang="es-CO" sz="1600" b="1" dirty="0"/>
              <a:t>REST</a:t>
            </a:r>
            <a:r>
              <a:rPr lang="es-CO" sz="1600" dirty="0"/>
              <a:t> debido a su simplicidad y eficiencia.</a:t>
            </a:r>
            <a:endParaRPr lang="es-CO" sz="1600" dirty="0"/>
          </a:p>
        </p:txBody>
      </p:sp>
      <p:graphicFrame>
        <p:nvGraphicFramePr>
          <p:cNvPr id="4" name="Tabla 3"/>
          <p:cNvGraphicFramePr>
            <a:graphicFrameLocks noGrp="1"/>
          </p:cNvGraphicFramePr>
          <p:nvPr/>
        </p:nvGraphicFramePr>
        <p:xfrm>
          <a:off x="2367984" y="3640016"/>
          <a:ext cx="7200000" cy="2123998"/>
        </p:xfrm>
        <a:graphic>
          <a:graphicData uri="http://schemas.openxmlformats.org/drawingml/2006/table">
            <a:tbl>
              <a:tblPr/>
              <a:tblGrid>
                <a:gridCol w="2400000"/>
                <a:gridCol w="2400000"/>
                <a:gridCol w="2400000"/>
              </a:tblGrid>
              <a:tr h="277043">
                <a:tc>
                  <a:txBody>
                    <a:bodyPr/>
                    <a:lstStyle/>
                    <a:p>
                      <a:pPr>
                        <a:buNone/>
                      </a:pPr>
                      <a:r>
                        <a:rPr lang="es-CO" sz="1200" b="1"/>
                        <a:t>Característica</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b="1"/>
                        <a:t>REST</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b="1"/>
                        <a:t>SOAP</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7043">
                <a:tc>
                  <a:txBody>
                    <a:bodyPr/>
                    <a:lstStyle/>
                    <a:p>
                      <a:pPr>
                        <a:buNone/>
                      </a:pPr>
                      <a:r>
                        <a:rPr lang="es-CO" sz="1200" b="1"/>
                        <a:t>Estilo</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Estilo arquitectónico</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Protocolo</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7043">
                <a:tc>
                  <a:txBody>
                    <a:bodyPr/>
                    <a:lstStyle/>
                    <a:p>
                      <a:pPr>
                        <a:buNone/>
                      </a:pPr>
                      <a:r>
                        <a:rPr lang="es-CO" sz="1200" b="1"/>
                        <a:t>Formato de datos</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dirty="0"/>
                        <a:t>JSON, XML, YAML</a:t>
                      </a:r>
                      <a:endParaRPr 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Solo XML</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7043">
                <a:tc>
                  <a:txBody>
                    <a:bodyPr/>
                    <a:lstStyle/>
                    <a:p>
                      <a:pPr>
                        <a:buNone/>
                      </a:pPr>
                      <a:r>
                        <a:rPr lang="es-CO" sz="1200" b="1"/>
                        <a:t>Rendimiento</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Liviano, rápido</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Más pesado, más lento</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7043">
                <a:tc>
                  <a:txBody>
                    <a:bodyPr/>
                    <a:lstStyle/>
                    <a:p>
                      <a:pPr>
                        <a:buNone/>
                      </a:pPr>
                      <a:r>
                        <a:rPr lang="es-CO" sz="1200" b="1"/>
                        <a:t>Estándares</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Usa métodos HTTP</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dirty="0"/>
                        <a:t>Contrato estricto WSDL</a:t>
                      </a:r>
                      <a:endParaRPr 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7043">
                <a:tc>
                  <a:txBody>
                    <a:bodyPr/>
                    <a:lstStyle/>
                    <a:p>
                      <a:pPr>
                        <a:buNone/>
                      </a:pPr>
                      <a:r>
                        <a:rPr lang="es-CO" sz="1200" b="1"/>
                        <a:t>Flexibilidad</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Más flexible, acoplamiento débil</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Estructura rígida</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1740">
                <a:tc>
                  <a:txBody>
                    <a:bodyPr/>
                    <a:lstStyle/>
                    <a:p>
                      <a:pPr>
                        <a:buNone/>
                      </a:pPr>
                      <a:r>
                        <a:rPr lang="es-CO" sz="1200" b="1"/>
                        <a:t>Herramientas</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a:t>Ampliamente soportado por frameworks web</a:t>
                      </a:r>
                      <a:endParaRPr 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200" dirty="0"/>
                        <a:t>Requiere kits de herramientas más complejos</a:t>
                      </a:r>
                      <a:endParaRPr 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t>MuleSoft</a:t>
            </a:r>
            <a:r>
              <a:rPr lang="es-CO" sz="2400" dirty="0"/>
              <a:t> – Introducción – Fundamentos HTTP</a:t>
            </a:r>
            <a:endParaRPr lang="es-CO" sz="2400" dirty="0"/>
          </a:p>
        </p:txBody>
      </p:sp>
      <p:graphicFrame>
        <p:nvGraphicFramePr>
          <p:cNvPr id="3" name="Tabla 2"/>
          <p:cNvGraphicFramePr>
            <a:graphicFrameLocks noGrp="1"/>
          </p:cNvGraphicFramePr>
          <p:nvPr/>
        </p:nvGraphicFramePr>
        <p:xfrm>
          <a:off x="2367984" y="1783080"/>
          <a:ext cx="7200000" cy="1645920"/>
        </p:xfrm>
        <a:graphic>
          <a:graphicData uri="http://schemas.openxmlformats.org/drawingml/2006/table">
            <a:tbl>
              <a:tblPr/>
              <a:tblGrid>
                <a:gridCol w="3600000"/>
                <a:gridCol w="3600000"/>
              </a:tblGrid>
              <a:tr h="0">
                <a:tc>
                  <a:txBody>
                    <a:bodyPr/>
                    <a:lstStyle/>
                    <a:p>
                      <a:pPr>
                        <a:buNone/>
                      </a:pPr>
                      <a:r>
                        <a:rPr lang="es-CO" sz="1200" b="1" dirty="0"/>
                        <a:t>Métodos HTTP</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b="1"/>
                        <a:t>Propósito</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GET</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Obtener datos</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POST</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Crear un nuevo recurso</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PUT</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Actualizar un recurso existente</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DELETE</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Eliminar un recurso</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PATCH</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dirty="0"/>
                        <a:t>Actualizar parcialmente un recurso</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graphicFrame>
        <p:nvGraphicFramePr>
          <p:cNvPr id="6" name="Tabla 5"/>
          <p:cNvGraphicFramePr>
            <a:graphicFrameLocks noGrp="1"/>
          </p:cNvGraphicFramePr>
          <p:nvPr/>
        </p:nvGraphicFramePr>
        <p:xfrm>
          <a:off x="1889937" y="4234623"/>
          <a:ext cx="8412126" cy="1280160"/>
        </p:xfrm>
        <a:graphic>
          <a:graphicData uri="http://schemas.openxmlformats.org/drawingml/2006/table">
            <a:tbl>
              <a:tblPr/>
              <a:tblGrid>
                <a:gridCol w="2804042"/>
                <a:gridCol w="2804042"/>
                <a:gridCol w="2804042"/>
              </a:tblGrid>
              <a:tr h="0">
                <a:tc>
                  <a:txBody>
                    <a:bodyPr/>
                    <a:lstStyle/>
                    <a:p>
                      <a:pPr>
                        <a:buNone/>
                      </a:pPr>
                      <a:r>
                        <a:rPr lang="es-CO" sz="1200" b="1" dirty="0"/>
                        <a:t>Rango de Códigos HTTP</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b="1"/>
                        <a:t>Significado</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b="1"/>
                        <a:t>Ejemplos</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2xx</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Éxito</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200 (OK), 201 (Creado)</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4xx</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Error del cliente</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400 (Solicitud incorrecta), 404 (No encontrado)</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5xx</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dirty="0"/>
                        <a:t>Error del servidor</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dirty="0"/>
                        <a:t>500 (Error interno del servidor)</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t>MuleSoft</a:t>
            </a:r>
            <a:r>
              <a:rPr lang="es-CO" sz="2400" dirty="0"/>
              <a:t> – Introducción – Solicitud y Respuesta</a:t>
            </a:r>
            <a:endParaRPr lang="es-CO" sz="2400" dirty="0"/>
          </a:p>
        </p:txBody>
      </p:sp>
      <p:sp>
        <p:nvSpPr>
          <p:cNvPr id="5" name="Marcador de contenido 4"/>
          <p:cNvSpPr>
            <a:spLocks noGrp="1"/>
          </p:cNvSpPr>
          <p:nvPr>
            <p:ph idx="1"/>
          </p:nvPr>
        </p:nvSpPr>
        <p:spPr>
          <a:xfrm>
            <a:off x="710184" y="1343218"/>
            <a:ext cx="10435144" cy="2296798"/>
          </a:xfrm>
        </p:spPr>
        <p:txBody>
          <a:bodyPr>
            <a:noAutofit/>
          </a:bodyPr>
          <a:lstStyle/>
          <a:p>
            <a:pPr algn="just"/>
            <a:r>
              <a:rPr lang="es-CO" sz="1600" dirty="0"/>
              <a:t>Cuando una aplicación se comunica con otra a través de una API, el intercambio sigue una estructura bien definida que incluye dos partes principales:</a:t>
            </a:r>
            <a:endParaRPr lang="es-CO" sz="1600" dirty="0"/>
          </a:p>
          <a:p>
            <a:pPr algn="just"/>
            <a:endParaRPr lang="es-CO" sz="1600" dirty="0"/>
          </a:p>
        </p:txBody>
      </p:sp>
      <p:graphicFrame>
        <p:nvGraphicFramePr>
          <p:cNvPr id="3" name="Tabla 2"/>
          <p:cNvGraphicFramePr>
            <a:graphicFrameLocks noGrp="1"/>
          </p:cNvGraphicFramePr>
          <p:nvPr/>
        </p:nvGraphicFramePr>
        <p:xfrm>
          <a:off x="710183" y="2165051"/>
          <a:ext cx="8202225" cy="1645920"/>
        </p:xfrm>
        <a:graphic>
          <a:graphicData uri="http://schemas.openxmlformats.org/drawingml/2006/table">
            <a:tbl>
              <a:tblPr/>
              <a:tblGrid>
                <a:gridCol w="1687233"/>
                <a:gridCol w="6514992"/>
              </a:tblGrid>
              <a:tr h="0">
                <a:tc>
                  <a:txBody>
                    <a:bodyPr/>
                    <a:lstStyle/>
                    <a:p>
                      <a:pPr>
                        <a:buNone/>
                      </a:pPr>
                      <a:r>
                        <a:rPr lang="es-CO" sz="1200" b="1" dirty="0"/>
                        <a:t>Solicitud</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b="1" dirty="0"/>
                        <a:t>Qué es</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URL (Endpoint)</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dirty="0"/>
                        <a:t>La dirección del recurso al que se quiere acceder. </a:t>
                      </a:r>
                      <a:r>
                        <a:rPr lang="es-CO" sz="1200" dirty="0" err="1"/>
                        <a:t>Ej</a:t>
                      </a:r>
                      <a:r>
                        <a:rPr lang="es-CO" sz="1200" dirty="0"/>
                        <a:t>: /api/usuarios/123</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Método HTTP</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Define la acción a realizar: GET, POST, PUT, DELETE, etc.</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Headers</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Metadatos de la solicitud. Ej: Content-Type: application/json</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Query Parameters</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Valores en la URL después de ? (opcional). Ej: /productos?categoria=ropa</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Body (Cuerpo)</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dirty="0"/>
                        <a:t>Información que se envía en métodos como POST o PUT. Usualmente en formato JSON o XML.</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
        <p:nvSpPr>
          <p:cNvPr id="6" name="CuadroTexto 5"/>
          <p:cNvSpPr txBox="1"/>
          <p:nvPr/>
        </p:nvSpPr>
        <p:spPr>
          <a:xfrm>
            <a:off x="9175897" y="2018515"/>
            <a:ext cx="2966325" cy="1754326"/>
          </a:xfrm>
          <a:prstGeom prst="rect">
            <a:avLst/>
          </a:prstGeom>
          <a:noFill/>
        </p:spPr>
        <p:txBody>
          <a:bodyPr wrap="none" rtlCol="0">
            <a:spAutoFit/>
          </a:bodyPr>
          <a:lstStyle/>
          <a:p>
            <a:r>
              <a:rPr lang="es-CO" sz="1200" dirty="0"/>
              <a:t>POST /api/v1/usuarios</a:t>
            </a:r>
            <a:endParaRPr lang="es-CO" sz="1200" dirty="0"/>
          </a:p>
          <a:p>
            <a:r>
              <a:rPr lang="es-CO" sz="1200" dirty="0"/>
              <a:t>Host: https://</a:t>
            </a:r>
            <a:r>
              <a:rPr lang="es-CO" sz="1200" dirty="0" err="1"/>
              <a:t>api.empresa.com</a:t>
            </a:r>
            <a:endParaRPr lang="es-CO" sz="1200" dirty="0"/>
          </a:p>
          <a:p>
            <a:r>
              <a:rPr lang="es-CO" sz="1200" dirty="0"/>
              <a:t>Content-</a:t>
            </a:r>
            <a:r>
              <a:rPr lang="es-CO" sz="1200" dirty="0" err="1"/>
              <a:t>Type</a:t>
            </a:r>
            <a:r>
              <a:rPr lang="es-CO" sz="1200" dirty="0"/>
              <a:t>: </a:t>
            </a:r>
            <a:r>
              <a:rPr lang="es-CO" sz="1200" dirty="0" err="1"/>
              <a:t>application</a:t>
            </a:r>
            <a:r>
              <a:rPr lang="es-CO" sz="1200" dirty="0"/>
              <a:t>/</a:t>
            </a:r>
            <a:r>
              <a:rPr lang="es-CO" sz="1200" dirty="0" err="1"/>
              <a:t>json</a:t>
            </a:r>
            <a:endParaRPr lang="es-CO" sz="1200" dirty="0"/>
          </a:p>
          <a:p>
            <a:r>
              <a:rPr lang="es-CO" sz="1200" dirty="0" err="1"/>
              <a:t>Authorization</a:t>
            </a:r>
            <a:r>
              <a:rPr lang="es-CO" sz="1200" dirty="0"/>
              <a:t>: </a:t>
            </a:r>
            <a:r>
              <a:rPr lang="es-CO" sz="1200" dirty="0" err="1"/>
              <a:t>Bearer</a:t>
            </a:r>
            <a:r>
              <a:rPr lang="es-CO" sz="1200" dirty="0"/>
              <a:t> eyJhbGciOiJIUzI1….</a:t>
            </a:r>
            <a:endParaRPr lang="es-CO" sz="1200" dirty="0"/>
          </a:p>
          <a:p>
            <a:endParaRPr lang="es-CO" sz="1200" dirty="0"/>
          </a:p>
          <a:p>
            <a:r>
              <a:rPr lang="es-CO" sz="1200" dirty="0"/>
              <a:t>{</a:t>
            </a:r>
            <a:endParaRPr lang="es-CO" sz="1200" dirty="0"/>
          </a:p>
          <a:p>
            <a:r>
              <a:rPr lang="es-CO" sz="1200" dirty="0"/>
              <a:t>  "nombre": "Ana",</a:t>
            </a:r>
            <a:endParaRPr lang="es-CO" sz="1200" dirty="0"/>
          </a:p>
          <a:p>
            <a:r>
              <a:rPr lang="es-CO" sz="1200" dirty="0"/>
              <a:t>  "email": "</a:t>
            </a:r>
            <a:r>
              <a:rPr lang="es-CO" sz="1200" dirty="0" err="1"/>
              <a:t>ana@example.com</a:t>
            </a:r>
            <a:r>
              <a:rPr lang="es-CO" sz="1200" dirty="0"/>
              <a:t>"</a:t>
            </a:r>
            <a:endParaRPr lang="es-CO" sz="1200" dirty="0"/>
          </a:p>
          <a:p>
            <a:r>
              <a:rPr lang="es-CO" sz="1200" dirty="0"/>
              <a:t>}</a:t>
            </a:r>
            <a:endParaRPr lang="es-CO" sz="1200" dirty="0"/>
          </a:p>
        </p:txBody>
      </p:sp>
      <p:graphicFrame>
        <p:nvGraphicFramePr>
          <p:cNvPr id="7" name="Tabla 6"/>
          <p:cNvGraphicFramePr>
            <a:graphicFrameLocks noGrp="1"/>
          </p:cNvGraphicFramePr>
          <p:nvPr/>
        </p:nvGraphicFramePr>
        <p:xfrm>
          <a:off x="710184" y="4670934"/>
          <a:ext cx="6732607" cy="1097280"/>
        </p:xfrm>
        <a:graphic>
          <a:graphicData uri="http://schemas.openxmlformats.org/drawingml/2006/table">
            <a:tbl>
              <a:tblPr/>
              <a:tblGrid>
                <a:gridCol w="1505867"/>
                <a:gridCol w="5226740"/>
              </a:tblGrid>
              <a:tr h="0">
                <a:tc>
                  <a:txBody>
                    <a:bodyPr/>
                    <a:lstStyle/>
                    <a:p>
                      <a:pPr>
                        <a:buNone/>
                      </a:pPr>
                      <a:r>
                        <a:rPr lang="es-CO" sz="1200" b="1" dirty="0"/>
                        <a:t>Respuesta</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b="1"/>
                        <a:t>Qué es</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Código de estado</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a:t>Informa si fue exitoso (200 OK, 201 Created) o hubo errores (400, 404, 500).</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Headers</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dirty="0"/>
                        <a:t>Metadatos sobre la respuesta. </a:t>
                      </a:r>
                      <a:r>
                        <a:rPr lang="es-CO" sz="1200" dirty="0" err="1"/>
                        <a:t>Ej</a:t>
                      </a:r>
                      <a:r>
                        <a:rPr lang="es-CO" sz="1200" dirty="0"/>
                        <a:t>: Content-</a:t>
                      </a:r>
                      <a:r>
                        <a:rPr lang="es-CO" sz="1200" dirty="0" err="1"/>
                        <a:t>Type</a:t>
                      </a:r>
                      <a:r>
                        <a:rPr lang="es-CO" sz="1200" dirty="0"/>
                        <a:t>: </a:t>
                      </a:r>
                      <a:r>
                        <a:rPr lang="es-CO" sz="1200" dirty="0" err="1"/>
                        <a:t>application</a:t>
                      </a:r>
                      <a:r>
                        <a:rPr lang="es-CO" sz="1200" dirty="0"/>
                        <a:t>/</a:t>
                      </a:r>
                      <a:r>
                        <a:rPr lang="es-CO" sz="1200" dirty="0" err="1"/>
                        <a:t>json</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r h="0">
                <a:tc>
                  <a:txBody>
                    <a:bodyPr/>
                    <a:lstStyle/>
                    <a:p>
                      <a:pPr>
                        <a:buNone/>
                      </a:pPr>
                      <a:r>
                        <a:rPr lang="es-CO" sz="1200" b="1"/>
                        <a:t>Body (Cuerpo)</a:t>
                      </a:r>
                      <a:endParaRPr lang="es-CO" sz="12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CO" sz="1200" dirty="0"/>
                        <a:t>Datos devueltos al cliente. Puede incluir JSON, XML, texto, etc.</a:t>
                      </a:r>
                      <a:endParaRPr lang="es-CO"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r>
            </a:tbl>
          </a:graphicData>
        </a:graphic>
      </p:graphicFrame>
      <p:sp>
        <p:nvSpPr>
          <p:cNvPr id="9" name="CuadroTexto 8"/>
          <p:cNvSpPr txBox="1"/>
          <p:nvPr/>
        </p:nvSpPr>
        <p:spPr>
          <a:xfrm>
            <a:off x="8036867" y="4434744"/>
            <a:ext cx="3444949" cy="1569660"/>
          </a:xfrm>
          <a:prstGeom prst="rect">
            <a:avLst/>
          </a:prstGeom>
          <a:noFill/>
        </p:spPr>
        <p:txBody>
          <a:bodyPr wrap="square">
            <a:spAutoFit/>
          </a:bodyPr>
          <a:lstStyle/>
          <a:p>
            <a:r>
              <a:rPr lang="es-CO" sz="1200" dirty="0"/>
              <a:t>HTTP/1.1 201 </a:t>
            </a:r>
            <a:r>
              <a:rPr lang="es-CO" sz="1200" dirty="0" err="1"/>
              <a:t>Created</a:t>
            </a:r>
            <a:endParaRPr lang="es-CO" sz="1200" dirty="0"/>
          </a:p>
          <a:p>
            <a:r>
              <a:rPr lang="es-CO" sz="1200" dirty="0"/>
              <a:t>Content-</a:t>
            </a:r>
            <a:r>
              <a:rPr lang="es-CO" sz="1200" dirty="0" err="1"/>
              <a:t>Type</a:t>
            </a:r>
            <a:r>
              <a:rPr lang="es-CO" sz="1200" dirty="0"/>
              <a:t>: </a:t>
            </a:r>
            <a:r>
              <a:rPr lang="es-CO" sz="1200" dirty="0" err="1"/>
              <a:t>application</a:t>
            </a:r>
            <a:r>
              <a:rPr lang="es-CO" sz="1200" dirty="0"/>
              <a:t>/</a:t>
            </a:r>
            <a:r>
              <a:rPr lang="es-CO" sz="1200" dirty="0" err="1"/>
              <a:t>json</a:t>
            </a:r>
            <a:endParaRPr lang="es-CO" sz="1200" dirty="0"/>
          </a:p>
          <a:p>
            <a:endParaRPr lang="es-CO" sz="1200" dirty="0"/>
          </a:p>
          <a:p>
            <a:r>
              <a:rPr lang="es-CO" sz="1200" dirty="0"/>
              <a:t>{</a:t>
            </a:r>
            <a:endParaRPr lang="es-CO" sz="1200" dirty="0"/>
          </a:p>
          <a:p>
            <a:r>
              <a:rPr lang="es-CO" sz="1200" dirty="0"/>
              <a:t>  "id": 123,</a:t>
            </a:r>
            <a:endParaRPr lang="es-CO" sz="1200" dirty="0"/>
          </a:p>
          <a:p>
            <a:r>
              <a:rPr lang="es-CO" sz="1200" dirty="0"/>
              <a:t>  "nombre": "Ana",</a:t>
            </a:r>
            <a:endParaRPr lang="es-CO" sz="1200" dirty="0"/>
          </a:p>
          <a:p>
            <a:r>
              <a:rPr lang="es-CO" sz="1200" dirty="0"/>
              <a:t>  "email": "</a:t>
            </a:r>
            <a:r>
              <a:rPr lang="es-CO" sz="1200" dirty="0" err="1"/>
              <a:t>ana@example.com</a:t>
            </a:r>
            <a:r>
              <a:rPr lang="es-CO" sz="1200" dirty="0"/>
              <a:t>"</a:t>
            </a:r>
            <a:endParaRPr lang="es-CO" sz="1200" dirty="0"/>
          </a:p>
          <a:p>
            <a:r>
              <a:rPr lang="es-CO" sz="1200" dirty="0"/>
              <a:t>}</a:t>
            </a:r>
            <a:endParaRPr lang="es-CO"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Introducción – </a:t>
            </a:r>
            <a:r>
              <a:rPr lang="en-US" altLang="es-CO" sz="2400" dirty="0">
                <a:sym typeface="+mn-ea"/>
              </a:rPr>
              <a:t>Mejores Pr</a:t>
            </a:r>
            <a:r>
              <a:rPr lang="es-VE" altLang="en-US" sz="2400" dirty="0">
                <a:sym typeface="+mn-ea"/>
              </a:rPr>
              <a:t>ácticas de </a:t>
            </a:r>
            <a:r>
              <a:rPr lang="en-US" sz="2400" dirty="0">
                <a:sym typeface="+mn-ea"/>
              </a:rPr>
              <a:t>Restful</a:t>
            </a:r>
            <a:endParaRPr lang="es-CO" sz="2400" dirty="0"/>
          </a:p>
        </p:txBody>
      </p:sp>
      <p:sp>
        <p:nvSpPr>
          <p:cNvPr id="5" name="Marcador de contenido 4"/>
          <p:cNvSpPr>
            <a:spLocks noGrp="1"/>
          </p:cNvSpPr>
          <p:nvPr>
            <p:ph idx="1"/>
          </p:nvPr>
        </p:nvSpPr>
        <p:spPr>
          <a:xfrm>
            <a:off x="710184" y="1343218"/>
            <a:ext cx="10435144" cy="2296798"/>
          </a:xfrm>
        </p:spPr>
        <p:txBody>
          <a:bodyPr>
            <a:noAutofit/>
          </a:bodyPr>
          <a:lstStyle/>
          <a:p>
            <a:pPr algn="just"/>
            <a:r>
              <a:rPr lang="es-VE" altLang="es-CO" sz="1600" dirty="0"/>
              <a:t>Cuando diseñamos APIs, es importante usar las mejores prácticas con el objetivo de tener Rest APIs consistentes y mantenibles:</a:t>
            </a:r>
            <a:endParaRPr lang="es-CO" sz="1600" dirty="0"/>
          </a:p>
          <a:p>
            <a:pPr lvl="1" algn="just"/>
            <a:r>
              <a:rPr lang="es-VE" altLang="es-CO" sz="1600" dirty="0"/>
              <a:t>Usar sustantivos para los nombres de los recursos </a:t>
            </a:r>
            <a:r>
              <a:rPr lang="en-US" altLang="es-CO" sz="1600" dirty="0"/>
              <a:t>(</a:t>
            </a:r>
            <a:r>
              <a:rPr lang="es-VE" altLang="en-US" sz="1600" dirty="0"/>
              <a:t>p</a:t>
            </a:r>
            <a:r>
              <a:rPr lang="en-US" altLang="es-CO" sz="1600" dirty="0"/>
              <a:t>.</a:t>
            </a:r>
            <a:r>
              <a:rPr lang="es-VE" altLang="en-US" sz="1600" dirty="0"/>
              <a:t> ej</a:t>
            </a:r>
            <a:r>
              <a:rPr lang="en-US" altLang="es-CO" sz="1600" dirty="0"/>
              <a:t>., /users, /orders)</a:t>
            </a:r>
            <a:endParaRPr lang="en-US" altLang="es-CO" sz="1600" dirty="0"/>
          </a:p>
          <a:p>
            <a:pPr lvl="1" algn="just"/>
            <a:r>
              <a:rPr lang="en-US" altLang="es-CO" sz="1600" dirty="0"/>
              <a:t>Usar de manera apropiada los m</a:t>
            </a:r>
            <a:r>
              <a:rPr lang="es-VE" altLang="en-US" sz="1600" dirty="0"/>
              <a:t>étodos HTTP para las acciones del API</a:t>
            </a:r>
            <a:endParaRPr lang="es-VE" altLang="en-US" sz="1600" dirty="0"/>
          </a:p>
          <a:p>
            <a:pPr lvl="1" algn="just"/>
            <a:r>
              <a:rPr lang="es-VE" altLang="en-US" sz="1600" dirty="0"/>
              <a:t>Uso de los HTTP Status Code, para comunicar resultados (e.g. 200, 404, 500)</a:t>
            </a:r>
            <a:endParaRPr lang="es-VE" altLang="en-US" sz="1600" dirty="0"/>
          </a:p>
          <a:p>
            <a:pPr lvl="1" algn="just"/>
            <a:r>
              <a:rPr lang="es-VE" altLang="en-US" sz="1600" dirty="0"/>
              <a:t>Mantener sin estado la sesión del lado del servidor.</a:t>
            </a:r>
            <a:endParaRPr lang="es-VE" altLang="en-US" sz="1600" dirty="0"/>
          </a:p>
          <a:p>
            <a:pPr lvl="1" algn="just"/>
            <a:r>
              <a:rPr lang="es-VE" altLang="en-US" sz="1600" dirty="0"/>
              <a:t>Uso de paginación para resultados de gran tamaño.</a:t>
            </a:r>
            <a:endParaRPr lang="es-CO" sz="1370" dirty="0"/>
          </a:p>
          <a:p>
            <a:pPr marL="0" indent="0" algn="just">
              <a:buNone/>
            </a:pPr>
            <a:endParaRPr lang="es-CO" sz="1600" dirty="0"/>
          </a:p>
          <a:p>
            <a:pPr marL="0" indent="0" algn="just">
              <a:buNone/>
            </a:pPr>
            <a:endParaRPr lang="es-CO"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4000" dirty="0" err="1"/>
              <a:t>MuleSoft</a:t>
            </a:r>
            <a:r>
              <a:rPr lang="es-CO" sz="4000" dirty="0"/>
              <a:t> – </a:t>
            </a:r>
            <a:r>
              <a:rPr lang="es-VE" altLang="es-CO" sz="4000" dirty="0"/>
              <a:t>API-led Connectivity</a:t>
            </a:r>
            <a:endParaRPr lang="es-VE" altLang="es-CO"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API-led Connectivity</a:t>
            </a:r>
            <a:endParaRPr lang="es-CO" sz="2400" dirty="0"/>
          </a:p>
        </p:txBody>
      </p:sp>
      <p:sp>
        <p:nvSpPr>
          <p:cNvPr id="5" name="Marcador de contenido 4"/>
          <p:cNvSpPr>
            <a:spLocks noGrp="1"/>
          </p:cNvSpPr>
          <p:nvPr>
            <p:ph idx="1"/>
          </p:nvPr>
        </p:nvSpPr>
        <p:spPr>
          <a:xfrm>
            <a:off x="710184" y="1343218"/>
            <a:ext cx="10435144" cy="2296798"/>
          </a:xfrm>
        </p:spPr>
        <p:txBody>
          <a:bodyPr>
            <a:noAutofit/>
          </a:bodyPr>
          <a:lstStyle/>
          <a:p>
            <a:pPr algn="just"/>
            <a:r>
              <a:rPr lang="es-VE" altLang="es-CO" sz="1600" dirty="0"/>
              <a:t>API-led connectivity es un enfoque de integración estructurado propuesto por MuleSoft.</a:t>
            </a:r>
            <a:endParaRPr lang="es-VE" altLang="es-CO" sz="1600" dirty="0"/>
          </a:p>
          <a:p>
            <a:pPr algn="just"/>
            <a:r>
              <a:rPr lang="es-VE" altLang="es-CO" sz="1600" dirty="0"/>
              <a:t>Permite el desarrollo escalable, reutilizable y modular de API organizandolas en capas lógicas según su función y alcance dentro de la arquitectura empresarial.</a:t>
            </a:r>
            <a:endParaRPr lang="es-VE" altLang="es-CO" sz="1600" dirty="0"/>
          </a:p>
          <a:p>
            <a:pPr algn="just"/>
            <a:r>
              <a:rPr lang="es-VE" altLang="es-CO" sz="1600" dirty="0"/>
              <a:t>Promueve la separación de preocupaciones.</a:t>
            </a:r>
            <a:endParaRPr lang="es-VE" altLang="es-CO" sz="1600" dirty="0"/>
          </a:p>
          <a:p>
            <a:pPr algn="just"/>
            <a:r>
              <a:rPr lang="es-VE" altLang="es-CO" sz="1600" dirty="0"/>
              <a:t>Agiliza la gestión de cambios de cambios y facilita la colaboración entre los equipos de TI y de negocio.</a:t>
            </a:r>
            <a:endParaRPr lang="es-CO" sz="1600" dirty="0"/>
          </a:p>
          <a:p>
            <a:pPr marL="0" indent="0" algn="just">
              <a:buNone/>
            </a:pPr>
            <a:endParaRPr lang="es-CO"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API-led Connectivity </a:t>
            </a:r>
            <a:r>
              <a:rPr lang="es-CO" sz="2400" dirty="0">
                <a:sym typeface="+mn-ea"/>
              </a:rPr>
              <a:t>–</a:t>
            </a:r>
            <a:r>
              <a:rPr lang="es-VE" altLang="es-CO" sz="2400" dirty="0">
                <a:sym typeface="+mn-ea"/>
              </a:rPr>
              <a:t> Las Tres Capas</a:t>
            </a:r>
            <a:endParaRPr lang="es-VE" altLang="es-CO"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s-VE" altLang="es-CO" sz="1600" dirty="0"/>
              <a:t>API-led connectivity está estructurado en tres distintas capas:</a:t>
            </a:r>
            <a:endParaRPr lang="es-VE" altLang="es-CO" sz="1600" dirty="0"/>
          </a:p>
        </p:txBody>
      </p:sp>
      <p:graphicFrame>
        <p:nvGraphicFramePr>
          <p:cNvPr id="8" name="Tabla 7"/>
          <p:cNvGraphicFramePr>
            <a:graphicFrameLocks noGrp="1"/>
          </p:cNvGraphicFramePr>
          <p:nvPr/>
        </p:nvGraphicFramePr>
        <p:xfrm>
          <a:off x="2553785" y="2876455"/>
          <a:ext cx="7200000" cy="2560191"/>
        </p:xfrm>
        <a:graphic>
          <a:graphicData uri="http://schemas.openxmlformats.org/drawingml/2006/table">
            <a:tbl>
              <a:tblPr/>
              <a:tblGrid>
                <a:gridCol w="2246121"/>
                <a:gridCol w="4953879"/>
              </a:tblGrid>
              <a:tr h="274243">
                <a:tc>
                  <a:txBody>
                    <a:bodyPr/>
                    <a:lstStyle/>
                    <a:p>
                      <a:pPr>
                        <a:buNone/>
                      </a:pPr>
                      <a:r>
                        <a:rPr lang="es-VE" altLang="es-CO" sz="1200" b="1"/>
                        <a:t>Capa</a:t>
                      </a:r>
                      <a:endParaRPr lang="es-VE" altLang="es-CO"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b="1" dirty="0"/>
                        <a:t>Función</a:t>
                      </a:r>
                      <a:endParaRPr lang="es-VE" altLang="es-CO" sz="1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a:t>Sistemas</a:t>
                      </a:r>
                      <a:endParaRPr lang="es-VE" alt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dirty="0"/>
                        <a:t>Es la interface o sistemas legados y orígenes de datos</a:t>
                      </a:r>
                      <a:endParaRPr lang="es-VE" alt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dirty="0"/>
                        <a:t>Procesos</a:t>
                      </a:r>
                      <a:endParaRPr lang="es-VE" alt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dirty="0"/>
                        <a:t>Orquesta y transform datos desde las APIs de la capa de Sistemas </a:t>
                      </a:r>
                      <a:endParaRPr lang="es-VE" alt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a:t>Experiencia</a:t>
                      </a:r>
                      <a:endParaRPr lang="es-VE" altLang="es-CO"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dirty="0"/>
                        <a:t>Entrega los datos a aplicaciones cliente en un formato específico</a:t>
                      </a:r>
                      <a:endParaRPr lang="es-VE" altLang="es-CO"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API-led Connectivity </a:t>
            </a:r>
            <a:r>
              <a:rPr lang="es-CO" sz="2400" dirty="0">
                <a:sym typeface="+mn-ea"/>
              </a:rPr>
              <a:t>–</a:t>
            </a:r>
            <a:r>
              <a:rPr lang="es-VE" altLang="es-CO" sz="2400" dirty="0">
                <a:sym typeface="+mn-ea"/>
              </a:rPr>
              <a:t> Capa de Sistemas</a:t>
            </a:r>
            <a:endParaRPr lang="es-VE" altLang="es-CO"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s-VE" altLang="es-CO" sz="1600" dirty="0"/>
              <a:t>Provee acceso directo a sistemas backend  como bases de datos, ERP, CRM, o sistemas o plataformas legadas.</a:t>
            </a:r>
            <a:endParaRPr lang="es-VE" altLang="es-CO" sz="1600" dirty="0"/>
          </a:p>
          <a:p>
            <a:pPr algn="just"/>
            <a:r>
              <a:rPr lang="es-VE" altLang="es-CO" sz="1600" dirty="0"/>
              <a:t>Maneja la lógica del sistema específico para recibir o manipular datos.</a:t>
            </a:r>
            <a:endParaRPr lang="es-VE" altLang="es-CO" sz="1600" dirty="0"/>
          </a:p>
          <a:p>
            <a:pPr algn="just"/>
            <a:r>
              <a:rPr lang="es-VE" altLang="es-CO" sz="1600" dirty="0"/>
              <a:t>Encapsula la complejidad subyacente del sistema y los cambios de las APIs de nivel superios.</a:t>
            </a:r>
            <a:endParaRPr lang="es-VE" altLang="es-CO" sz="1600" dirty="0"/>
          </a:p>
          <a:p>
            <a:pPr algn="just"/>
            <a:r>
              <a:rPr lang="es-VE" altLang="es-CO" sz="1600" dirty="0"/>
              <a:t>Contiene información sencible y no debería ser expuesta externamente. </a:t>
            </a:r>
            <a:endParaRPr lang="es-VE" altLang="es-CO" sz="1600" dirty="0"/>
          </a:p>
        </p:txBody>
      </p:sp>
      <p:sp>
        <p:nvSpPr>
          <p:cNvPr id="3" name="Marcador de contenido 4"/>
          <p:cNvSpPr>
            <a:spLocks noGrp="1"/>
          </p:cNvSpPr>
          <p:nvPr/>
        </p:nvSpPr>
        <p:spPr>
          <a:xfrm>
            <a:off x="843534" y="3288858"/>
            <a:ext cx="10435144" cy="229679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VE" altLang="es-CO" sz="1600" dirty="0"/>
              <a:t>Ejemplo: Un API que recibe los datos de clientes desde una base de datos relacional</a:t>
            </a:r>
            <a:endParaRPr lang="es-VE" altLang="es-CO"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API-led Connectivity </a:t>
            </a:r>
            <a:r>
              <a:rPr lang="es-CO" sz="2400" dirty="0">
                <a:sym typeface="+mn-ea"/>
              </a:rPr>
              <a:t>–</a:t>
            </a:r>
            <a:r>
              <a:rPr lang="es-VE" altLang="es-CO" sz="2400" dirty="0">
                <a:sym typeface="+mn-ea"/>
              </a:rPr>
              <a:t> Capa de Procesos</a:t>
            </a:r>
            <a:endParaRPr lang="es-VE" altLang="es-CO"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s-VE" altLang="es-CO" sz="1600" dirty="0"/>
              <a:t>Combina datos desde múltiples APIs de Sistemas para implementar la lógica de negocio.</a:t>
            </a:r>
            <a:endParaRPr lang="es-VE" altLang="es-CO" sz="1600" dirty="0"/>
          </a:p>
          <a:p>
            <a:pPr algn="just"/>
            <a:r>
              <a:rPr lang="es-VE" altLang="es-CO" sz="1600" dirty="0"/>
              <a:t>Realiza transformación, agregación, filtrado y enrutamiento de los datos.</a:t>
            </a:r>
            <a:endParaRPr lang="es-VE" altLang="es-CO" sz="1600" dirty="0"/>
          </a:p>
          <a:p>
            <a:pPr algn="just"/>
            <a:r>
              <a:rPr lang="es-VE" altLang="es-CO" sz="1600" dirty="0"/>
              <a:t>Actúa como abstracción entre las capas de Experiencia y de Sistemas.</a:t>
            </a:r>
            <a:endParaRPr lang="es-VE" altLang="es-CO" sz="1600" dirty="0"/>
          </a:p>
          <a:p>
            <a:pPr algn="just"/>
            <a:r>
              <a:rPr lang="es-VE" altLang="es-CO" sz="1600" dirty="0"/>
              <a:t>No debería ser accedida directamente por los clientes finales o externos.</a:t>
            </a:r>
            <a:endParaRPr lang="es-VE" altLang="es-CO" sz="1600" dirty="0"/>
          </a:p>
        </p:txBody>
      </p:sp>
      <p:sp>
        <p:nvSpPr>
          <p:cNvPr id="3" name="Marcador de contenido 4"/>
          <p:cNvSpPr>
            <a:spLocks noGrp="1"/>
          </p:cNvSpPr>
          <p:nvPr/>
        </p:nvSpPr>
        <p:spPr>
          <a:xfrm>
            <a:off x="843534" y="3288858"/>
            <a:ext cx="10435144" cy="229679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VE" altLang="es-CO" sz="1600" dirty="0"/>
              <a:t>Ejemplo: Un API de la Capa de Procesos que fusiona los datos de los clientes de un CRM con el historial de pedidos de un sistema ERP para generar un perfil consolidado.</a:t>
            </a:r>
            <a:endParaRPr lang="es-VE" altLang="es-CO"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API-led Connectivity </a:t>
            </a:r>
            <a:r>
              <a:rPr lang="es-CO" sz="2400" dirty="0">
                <a:sym typeface="+mn-ea"/>
              </a:rPr>
              <a:t>–</a:t>
            </a:r>
            <a:r>
              <a:rPr lang="es-VE" altLang="es-CO" sz="2400" dirty="0">
                <a:sym typeface="+mn-ea"/>
              </a:rPr>
              <a:t> Capa de Experiencia</a:t>
            </a:r>
            <a:endParaRPr lang="es-VE" altLang="es-CO"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s-VE" altLang="es-CO" sz="1600" dirty="0"/>
              <a:t>Actúa como interfaz entre las aplicaciones cliente (</a:t>
            </a:r>
            <a:r>
              <a:rPr lang="es-VE" altLang="en-US" sz="1600" dirty="0">
                <a:sym typeface="+mn-ea"/>
              </a:rPr>
              <a:t>p</a:t>
            </a:r>
            <a:r>
              <a:rPr lang="en-US" altLang="es-CO" sz="1600" dirty="0">
                <a:sym typeface="+mn-ea"/>
              </a:rPr>
              <a:t>.</a:t>
            </a:r>
            <a:r>
              <a:rPr lang="es-VE" altLang="en-US" sz="1600" dirty="0">
                <a:sym typeface="+mn-ea"/>
              </a:rPr>
              <a:t> ej</a:t>
            </a:r>
            <a:r>
              <a:rPr lang="en-US" altLang="es-CO" sz="1600" dirty="0">
                <a:sym typeface="+mn-ea"/>
              </a:rPr>
              <a:t>.,</a:t>
            </a:r>
            <a:r>
              <a:rPr lang="es-VE" altLang="en-US" sz="1600" dirty="0">
                <a:sym typeface="+mn-ea"/>
              </a:rPr>
              <a:t> móviles, web, sistemas de terceros</a:t>
            </a:r>
            <a:r>
              <a:rPr lang="es-VE" altLang="es-CO" sz="1600" dirty="0"/>
              <a:t>) y los servicios internos.</a:t>
            </a:r>
            <a:endParaRPr lang="es-VE" altLang="es-CO" sz="1600" dirty="0"/>
          </a:p>
          <a:p>
            <a:pPr algn="just"/>
            <a:r>
              <a:rPr lang="es-VE" altLang="es-CO" sz="1600" dirty="0"/>
              <a:t>Adapta las necesidades específicas del consumidor y los formatos de presentación (JSON, XML, etc)</a:t>
            </a:r>
            <a:endParaRPr lang="es-VE" altLang="es-CO" sz="1600" dirty="0"/>
          </a:p>
          <a:p>
            <a:pPr algn="just"/>
            <a:r>
              <a:rPr lang="es-VE" altLang="es-CO" sz="1600" dirty="0"/>
              <a:t>Desvincula los cambios de cara al usuario de la lógica y los sistemas de backend.</a:t>
            </a:r>
            <a:endParaRPr lang="es-VE" altLang="es-CO" sz="1600" dirty="0"/>
          </a:p>
        </p:txBody>
      </p:sp>
      <p:sp>
        <p:nvSpPr>
          <p:cNvPr id="3" name="Marcador de contenido 4"/>
          <p:cNvSpPr>
            <a:spLocks noGrp="1"/>
          </p:cNvSpPr>
          <p:nvPr/>
        </p:nvSpPr>
        <p:spPr>
          <a:xfrm>
            <a:off x="843534" y="3288858"/>
            <a:ext cx="10435144" cy="229679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VE" altLang="es-CO" sz="1600" dirty="0"/>
              <a:t>Ejemplo: Una API de experiencia de la aplicación móvil que devuelve únicamente los datos necesarios del cliente en formato JSON para la representación de la pantalla de perfil del usuario.</a:t>
            </a:r>
            <a:endParaRPr lang="es-VE" altLang="es-CO"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API-led Connectivity </a:t>
            </a:r>
            <a:r>
              <a:rPr lang="es-CO" sz="2400" dirty="0">
                <a:sym typeface="+mn-ea"/>
              </a:rPr>
              <a:t>–</a:t>
            </a:r>
            <a:r>
              <a:rPr lang="es-VE" altLang="es-CO" sz="2400" dirty="0">
                <a:sym typeface="+mn-ea"/>
              </a:rPr>
              <a:t> Beneficios</a:t>
            </a:r>
            <a:endParaRPr lang="es-VE" altLang="es-CO"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s-VE" altLang="es-CO" sz="1600" dirty="0"/>
              <a:t>Beneficios de API-led Connectivity:</a:t>
            </a:r>
            <a:endParaRPr lang="es-VE" altLang="es-CO" sz="1600" dirty="0"/>
          </a:p>
        </p:txBody>
      </p:sp>
      <p:graphicFrame>
        <p:nvGraphicFramePr>
          <p:cNvPr id="8" name="Tabla 7"/>
          <p:cNvGraphicFramePr>
            <a:graphicFrameLocks noGrp="1"/>
          </p:cNvGraphicFramePr>
          <p:nvPr/>
        </p:nvGraphicFramePr>
        <p:xfrm>
          <a:off x="2553785" y="2876455"/>
          <a:ext cx="7200265" cy="2102527"/>
        </p:xfrm>
        <a:graphic>
          <a:graphicData uri="http://schemas.openxmlformats.org/drawingml/2006/table">
            <a:tbl>
              <a:tblPr/>
              <a:tblGrid>
                <a:gridCol w="2246121"/>
                <a:gridCol w="4953879"/>
              </a:tblGrid>
              <a:tr h="274243">
                <a:tc>
                  <a:txBody>
                    <a:bodyPr/>
                    <a:lstStyle/>
                    <a:p>
                      <a:pPr>
                        <a:buNone/>
                      </a:pPr>
                      <a:r>
                        <a:rPr lang="es-VE" altLang="es-CO" sz="1200" b="1"/>
                        <a:t>Reutilización</a:t>
                      </a:r>
                      <a:endParaRPr lang="es-VE" altLang="es-CO"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b="0" dirty="0"/>
                        <a:t>Las APIs de Sistemas y de Procesos pueden reutilizarse en múltiples APIs de Experiencia</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b="1"/>
                        <a:t>Modularidad</a:t>
                      </a:r>
                      <a:endParaRPr lang="es-VE" altLang="es-CO"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b="0" dirty="0"/>
                        <a:t>Los cambios se aíslan en capas específicas sin interrumpir a las demás</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b="1" dirty="0"/>
                        <a:t>Governanza</a:t>
                      </a:r>
                      <a:endParaRPr lang="es-VE" altLang="es-CO" sz="1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b="0" dirty="0"/>
                        <a:t>Las políticas y el control de acceso se pueden aplicar en los niveles adecuados</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b="1"/>
                        <a:t>Desarrollo Rápido</a:t>
                      </a:r>
                      <a:endParaRPr lang="es-VE" altLang="es-CO"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b="0" dirty="0"/>
                        <a:t>Equipos de desarrollo más rápidos pueden trabajar en paralelo en diferentes capas</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s-CO" sz="1200" b="1"/>
                        <a:t>Mejoras en la Gestión de Cambios</a:t>
                      </a:r>
                      <a:endParaRPr lang="es-VE" altLang="es-CO"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s-VE" altLang="es-CO" sz="1200" b="0" dirty="0"/>
                        <a:t>Reduce el riesgo al modificar los sistemas backend o la lógica de negocio.</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2400" dirty="0" err="1">
                <a:sym typeface="+mn-ea"/>
              </a:rPr>
              <a:t>MuleSoft</a:t>
            </a:r>
            <a:r>
              <a:rPr lang="es-CO" sz="2400" dirty="0">
                <a:sym typeface="+mn-ea"/>
              </a:rPr>
              <a:t> – </a:t>
            </a:r>
            <a:r>
              <a:rPr lang="es-VE" altLang="es-CO" sz="2400" dirty="0">
                <a:sym typeface="+mn-ea"/>
              </a:rPr>
              <a:t>API-led Connectivity </a:t>
            </a:r>
            <a:r>
              <a:rPr lang="es-CO" sz="2400" dirty="0">
                <a:sym typeface="+mn-ea"/>
              </a:rPr>
              <a:t>–</a:t>
            </a:r>
            <a:r>
              <a:rPr lang="es-VE" altLang="es-CO" sz="2400" dirty="0">
                <a:sym typeface="+mn-ea"/>
              </a:rPr>
              <a:t> Ilustración de ejemplo</a:t>
            </a:r>
            <a:endParaRPr lang="es-VE" altLang="es-CO" sz="2400" dirty="0">
              <a:sym typeface="+mn-ea"/>
            </a:endParaRPr>
          </a:p>
        </p:txBody>
      </p:sp>
      <p:sp>
        <p:nvSpPr>
          <p:cNvPr id="5" name="Marcador de contenido 4"/>
          <p:cNvSpPr>
            <a:spLocks noGrp="1"/>
          </p:cNvSpPr>
          <p:nvPr>
            <p:ph sz="half" idx="1"/>
          </p:nvPr>
        </p:nvSpPr>
        <p:spPr/>
        <p:txBody>
          <a:bodyPr>
            <a:noAutofit/>
          </a:bodyPr>
          <a:lstStyle/>
          <a:p>
            <a:pPr algn="just"/>
            <a:r>
              <a:rPr lang="es-VE" altLang="es-CO" sz="1600" dirty="0"/>
              <a:t>Ejemplo de las tres capas de API-led Connectivity:</a:t>
            </a:r>
            <a:endParaRPr lang="es-VE" altLang="es-CO" sz="1600" dirty="0"/>
          </a:p>
        </p:txBody>
      </p:sp>
      <p:pic>
        <p:nvPicPr>
          <p:cNvPr id="16" name="Marcador de posición de contenido 15" descr="api-led-connectivity.drawio"/>
          <p:cNvPicPr>
            <a:picLocks noChangeAspect="1"/>
          </p:cNvPicPr>
          <p:nvPr>
            <p:ph sz="half" idx="2"/>
          </p:nvPr>
        </p:nvPicPr>
        <p:blipFill>
          <a:blip r:embed="rId1"/>
          <a:srcRect l="818" r="818"/>
          <a:stretch>
            <a:fillRect/>
          </a:stretch>
        </p:blipFill>
        <p:spPr>
          <a:xfrm>
            <a:off x="3009900" y="2282825"/>
            <a:ext cx="5284470" cy="4438015"/>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API-led Connectivity </a:t>
            </a:r>
            <a:r>
              <a:rPr lang="es-CO" sz="2400" dirty="0">
                <a:sym typeface="+mn-ea"/>
              </a:rPr>
              <a:t>–</a:t>
            </a:r>
            <a:r>
              <a:rPr lang="es-VE" altLang="es-CO" sz="2400" dirty="0">
                <a:sym typeface="+mn-ea"/>
              </a:rPr>
              <a:t> </a:t>
            </a:r>
            <a:r>
              <a:rPr lang="en-US" altLang="es-VE" sz="2400" dirty="0">
                <a:sym typeface="+mn-ea"/>
              </a:rPr>
              <a:t>Enfoque de Desarrollo</a:t>
            </a:r>
            <a:endParaRPr lang="en-US" altLang="es-VE"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n-US" sz="1600" dirty="0"/>
              <a:t>Un proyecto basado en API suele seguir un flujo de desarrollo ascendente:</a:t>
            </a:r>
            <a:endParaRPr lang="en-US" sz="1600" dirty="0"/>
          </a:p>
          <a:p>
            <a:pPr lvl="1" algn="just"/>
            <a:r>
              <a:rPr lang="en-US" sz="1600" dirty="0"/>
              <a:t>Primero se desarrollan las API de Sistemas, lo que garantiza un acceso </a:t>
            </a:r>
            <a:r>
              <a:rPr lang="es-VE" altLang="en-US" sz="1600" dirty="0"/>
              <a:t>sólido a las fuentes de datos.</a:t>
            </a:r>
            <a:endParaRPr lang="es-VE" altLang="en-US" sz="1600" dirty="0"/>
          </a:p>
          <a:p>
            <a:pPr lvl="1" algn="just"/>
            <a:r>
              <a:rPr lang="es-VE" altLang="en-US" sz="1600" dirty="0"/>
              <a:t>Luego, se crean las APIs de Proceso mediante el consumo y la orquestación de datos de las API</a:t>
            </a:r>
            <a:endParaRPr lang="es-VE" altLang="en-US" sz="1600" dirty="0"/>
          </a:p>
          <a:p>
            <a:pPr lvl="1" algn="just"/>
            <a:r>
              <a:rPr lang="es-VE" altLang="en-US" sz="1600" dirty="0"/>
              <a:t>Las APIs de experiencia se desarrollan en último lugar, consumiendo las APIs de proceso para entregar los datos finales a las aplicaciones del usuario final.</a:t>
            </a:r>
            <a:endParaRPr lang="es-VE" altLang="es-CO" sz="1600" dirty="0"/>
          </a:p>
          <a:p>
            <a:pPr algn="just"/>
            <a:r>
              <a:rPr lang="es-VE" altLang="es-CO" sz="1600" dirty="0"/>
              <a:t>Este enfoque promueve un desarrollo disciplinado y simplifica los flujos de trabajo de pruebas e implementación </a:t>
            </a:r>
            <a:endParaRPr lang="es-VE" altLang="es-CO" sz="1600" dirty="0"/>
          </a:p>
          <a:p>
            <a:pPr marL="0" indent="0" algn="just">
              <a:buNone/>
            </a:pPr>
            <a:endParaRPr lang="es-VE" altLang="es-CO"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API-led Connectivity </a:t>
            </a:r>
            <a:r>
              <a:rPr lang="es-CO" sz="2400" dirty="0">
                <a:sym typeface="+mn-ea"/>
              </a:rPr>
              <a:t>–</a:t>
            </a:r>
            <a:r>
              <a:rPr lang="es-VE" altLang="es-CO" sz="2400" dirty="0">
                <a:sym typeface="+mn-ea"/>
              </a:rPr>
              <a:t> </a:t>
            </a:r>
            <a:r>
              <a:rPr lang="es-VE" altLang="en-US" sz="2400" dirty="0">
                <a:sym typeface="+mn-ea"/>
              </a:rPr>
              <a:t>Mejores Prácticas</a:t>
            </a:r>
            <a:endParaRPr lang="es-VE" altLang="en-US"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s-VE" altLang="en-US" sz="1600" dirty="0"/>
              <a:t>No exponga las APIs de Sistema ni de Proceso a clientes externos.</a:t>
            </a:r>
            <a:endParaRPr lang="es-VE" altLang="es-CO" sz="1370" dirty="0"/>
          </a:p>
          <a:p>
            <a:pPr algn="just"/>
            <a:r>
              <a:rPr lang="es-VE" altLang="es-CO" sz="1600" dirty="0"/>
              <a:t>Aplique oilíticas de seguridad, limitación y control de versiones a nivel de la API de experiencia.</a:t>
            </a:r>
            <a:endParaRPr lang="es-VE" altLang="es-CO" sz="1600" dirty="0"/>
          </a:p>
          <a:p>
            <a:pPr algn="just"/>
            <a:r>
              <a:rPr lang="es-VE" altLang="es-CO" sz="1600" dirty="0"/>
              <a:t>Fomente la reutilización de las APIs de proceso en todos los canales.</a:t>
            </a:r>
            <a:endParaRPr lang="es-VE" altLang="es-CO" sz="1600" dirty="0"/>
          </a:p>
          <a:p>
            <a:pPr algn="just"/>
            <a:r>
              <a:rPr lang="es-VE" altLang="es-CO" sz="1600" dirty="0"/>
              <a:t>Utilice convenciones de nomenclatura claras para distinguir cada capa (p ej., abc-mysql-system-api, abc-orders-process-api).</a:t>
            </a:r>
            <a:endParaRPr lang="es-VE" altLang="es-CO" sz="1600" dirty="0"/>
          </a:p>
          <a:p>
            <a:pPr marL="0" indent="0" algn="just">
              <a:buNone/>
            </a:pPr>
            <a:endParaRPr lang="es-VE" altLang="es-CO"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4000" dirty="0" err="1"/>
              <a:t>MuleSoft</a:t>
            </a:r>
            <a:r>
              <a:rPr lang="es-CO" sz="4000" dirty="0"/>
              <a:t> – </a:t>
            </a:r>
            <a:r>
              <a:rPr lang="es-VE" altLang="es-CO" sz="4000" dirty="0"/>
              <a:t>Anypoint Platform</a:t>
            </a:r>
            <a:endParaRPr lang="es-VE" altLang="es-CO" sz="4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Anypoint Platform</a:t>
            </a:r>
            <a:endParaRPr lang="es-VE" altLang="es-CO"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s-VE" altLang="es-CO" sz="1600" dirty="0"/>
              <a:t>Anypoint Platform es la plataforma unificada de integración y gestión de API de MuleSoft. Permite a los equipos diseñar, desarrollar, implementar, proteger, gestionar y supervisar APIs e integraciones en un único entorno.</a:t>
            </a:r>
            <a:endParaRPr lang="es-VE" altLang="es-CO" sz="1600" dirty="0"/>
          </a:p>
          <a:p>
            <a:pPr algn="just"/>
            <a:r>
              <a:rPr lang="es-VE" altLang="es-CO" sz="1600" dirty="0"/>
              <a:t>Componentes clave de Anypoint Platform.</a:t>
            </a:r>
            <a:endParaRPr lang="es-VE" altLang="es-CO" sz="1600" dirty="0"/>
          </a:p>
        </p:txBody>
      </p:sp>
      <p:graphicFrame>
        <p:nvGraphicFramePr>
          <p:cNvPr id="8" name="Tabla 7"/>
          <p:cNvGraphicFramePr>
            <a:graphicFrameLocks noGrp="1"/>
          </p:cNvGraphicFramePr>
          <p:nvPr/>
        </p:nvGraphicFramePr>
        <p:xfrm>
          <a:off x="2553785" y="2876455"/>
          <a:ext cx="7200265" cy="2559685"/>
        </p:xfrm>
        <a:graphic>
          <a:graphicData uri="http://schemas.openxmlformats.org/drawingml/2006/table">
            <a:tbl>
              <a:tblPr/>
              <a:tblGrid>
                <a:gridCol w="2246121"/>
                <a:gridCol w="4953879"/>
              </a:tblGrid>
              <a:tr h="274243">
                <a:tc>
                  <a:txBody>
                    <a:bodyPr/>
                    <a:lstStyle/>
                    <a:p>
                      <a:pPr>
                        <a:buNone/>
                      </a:pPr>
                      <a:r>
                        <a:rPr lang="es-VE" altLang="es-CO" sz="1200" b="1"/>
                        <a:t>Componente</a:t>
                      </a:r>
                      <a:endParaRPr lang="es-VE" altLang="es-CO"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b="1" dirty="0"/>
                        <a:t>Descripción</a:t>
                      </a:r>
                      <a:endParaRPr lang="es-VE" altLang="es-CO" sz="1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b="0"/>
                        <a:t>Design Center</a:t>
                      </a:r>
                      <a:endParaRPr lang="es-VE" altLang="es-CO"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b="0" dirty="0"/>
                        <a:t>Permite modelar, diseñar y probar APIs utilizando estándares como RAML.</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b="0" dirty="0"/>
                        <a:t>Exchange</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b="0" dirty="0"/>
                        <a:t>Repositorio central para APIs, conectores y plantillas reutilizables.</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b="0"/>
                        <a:t>API Manager</a:t>
                      </a:r>
                      <a:endParaRPr lang="es-VE" altLang="es-CO"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b="0" dirty="0"/>
                        <a:t>Administra políticas, seguridad, control de versiones y control de acceso para APIs</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s-CO" sz="1200" b="0"/>
                        <a:t>Runtime Manager</a:t>
                      </a:r>
                      <a:endParaRPr lang="es-VE" altLang="es-CO"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s-VE" altLang="es-CO" sz="1200" b="0" dirty="0"/>
                        <a:t>Implementa y administra aplicaciones en CloudHub, en instalaciones locales o híbridas.</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s-CO" sz="1200" b="0"/>
                        <a:t>Monitoring </a:t>
                      </a:r>
                      <a:r>
                        <a:rPr lang="en-US" altLang="es-VE" sz="1200" b="0"/>
                        <a:t>&amp; Visualizer</a:t>
                      </a:r>
                      <a:endParaRPr lang="en-US" altLang="es-VE"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VE" sz="1200" b="0" dirty="0"/>
                        <a:t>Proporciona monitorizaci</a:t>
                      </a:r>
                      <a:r>
                        <a:rPr lang="es-VE" altLang="en-US" sz="1200" b="0" dirty="0"/>
                        <a:t>ón, análisis y visualización de integraciones.</a:t>
                      </a:r>
                      <a:endParaRPr lang="es-VE"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Anypoint Platform </a:t>
            </a:r>
            <a:r>
              <a:rPr lang="es-CO" sz="2400" dirty="0">
                <a:sym typeface="+mn-ea"/>
              </a:rPr>
              <a:t>–</a:t>
            </a:r>
            <a:r>
              <a:rPr lang="es-VE" altLang="es-CO" sz="2400" dirty="0">
                <a:sym typeface="+mn-ea"/>
              </a:rPr>
              <a:t> Ciclo de Vida</a:t>
            </a:r>
            <a:endParaRPr lang="es-VE" altLang="es-CO" sz="2400" dirty="0">
              <a:sym typeface="+mn-ea"/>
            </a:endParaRPr>
          </a:p>
        </p:txBody>
      </p:sp>
      <p:sp>
        <p:nvSpPr>
          <p:cNvPr id="5" name="Marcador de contenido 4"/>
          <p:cNvSpPr>
            <a:spLocks noGrp="1"/>
          </p:cNvSpPr>
          <p:nvPr>
            <p:ph idx="1"/>
          </p:nvPr>
        </p:nvSpPr>
        <p:spPr>
          <a:xfrm>
            <a:off x="709930" y="1343025"/>
            <a:ext cx="10434955" cy="3401695"/>
          </a:xfrm>
        </p:spPr>
        <p:txBody>
          <a:bodyPr>
            <a:noAutofit/>
          </a:bodyPr>
          <a:lstStyle/>
          <a:p>
            <a:pPr algn="just"/>
            <a:r>
              <a:rPr lang="es-VE" altLang="en-US" sz="1600" dirty="0"/>
              <a:t>Anypoint Platform ofrece un ciclo de vida completo de las APIs.</a:t>
            </a:r>
            <a:endParaRPr lang="es-VE" altLang="en-US" sz="1600" dirty="0"/>
          </a:p>
          <a:p>
            <a:pPr lvl="1" algn="just"/>
            <a:r>
              <a:rPr lang="es-VE" altLang="es-CO" sz="1600" dirty="0"/>
              <a:t>Diseño: Crear especificaciones de API en Design Center.</a:t>
            </a:r>
            <a:endParaRPr lang="es-VE" altLang="es-CO" sz="1600" dirty="0"/>
          </a:p>
          <a:p>
            <a:pPr lvl="1" algn="just"/>
            <a:r>
              <a:rPr lang="es-VE" altLang="es-CO" sz="1600" dirty="0"/>
              <a:t>Publicación: Facilitar el descubrimiento de las API a través de Exchange.</a:t>
            </a:r>
            <a:endParaRPr lang="es-VE" altLang="es-CO" sz="1600" dirty="0"/>
          </a:p>
          <a:p>
            <a:pPr lvl="1" algn="just"/>
            <a:r>
              <a:rPr lang="es-VE" altLang="es-CO" sz="1600" dirty="0"/>
              <a:t>Desarrollo: Implementar las API con herramientas de MuleSoft (p. ej., Anypoint Studio) </a:t>
            </a:r>
            <a:endParaRPr lang="es-VE" altLang="es-CO" sz="1600" dirty="0"/>
          </a:p>
          <a:p>
            <a:pPr lvl="1" algn="just"/>
            <a:r>
              <a:rPr lang="es-VE" altLang="es-CO" sz="1600" dirty="0"/>
              <a:t>Implementar: Usar Runtime Manager para la implementación en diversos entornos.</a:t>
            </a:r>
            <a:endParaRPr lang="es-VE" altLang="es-CO" sz="1600" dirty="0"/>
          </a:p>
          <a:p>
            <a:pPr lvl="1" algn="just"/>
            <a:r>
              <a:rPr lang="es-VE" altLang="es-CO" sz="1600" dirty="0"/>
              <a:t>Proteger y administrar: Aplicar políticas a través .</a:t>
            </a:r>
            <a:endParaRPr lang="es-VE" altLang="es-CO" sz="1600" dirty="0"/>
          </a:p>
          <a:p>
            <a:pPr lvl="1" algn="just"/>
            <a:r>
              <a:rPr lang="es-VE" altLang="es-CO" sz="1600" dirty="0"/>
              <a:t>Monitorizar: Usar Monitoring y Visualizer para obtener información operativa.</a:t>
            </a:r>
            <a:endParaRPr lang="es-VE" altLang="es-CO" sz="1600" dirty="0"/>
          </a:p>
          <a:p>
            <a:pPr lvl="1" algn="just"/>
            <a:r>
              <a:rPr lang="es-VE" altLang="es-CO" sz="1600" dirty="0"/>
              <a:t>Versionar y retitar: Gestionar los ciclos de vida con Exchange y API Manager</a:t>
            </a:r>
            <a:endParaRPr lang="es-VE" altLang="es-CO" sz="1330" dirty="0"/>
          </a:p>
          <a:p>
            <a:pPr lvl="0" algn="just"/>
            <a:r>
              <a:rPr lang="es-VE" altLang="es-CO" sz="1600" dirty="0"/>
              <a:t>Este ciclo de vida permite un proceso estandarizado y repetible para la cración y el mantenimiento de las APIs.</a:t>
            </a:r>
            <a:endParaRPr lang="es-VE" altLang="es-CO" sz="1600" dirty="0"/>
          </a:p>
          <a:p>
            <a:pPr marL="0" indent="0" algn="just">
              <a:buNone/>
            </a:pPr>
            <a:endParaRPr lang="es-VE" altLang="es-CO"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Anypoint Platform </a:t>
            </a:r>
            <a:r>
              <a:rPr lang="es-CO" sz="2400" dirty="0">
                <a:sym typeface="+mn-ea"/>
              </a:rPr>
              <a:t>–</a:t>
            </a:r>
            <a:r>
              <a:rPr lang="es-VE" altLang="es-CO" sz="2400" dirty="0">
                <a:sym typeface="+mn-ea"/>
              </a:rPr>
              <a:t> </a:t>
            </a:r>
            <a:r>
              <a:rPr lang="en-US" altLang="es-VE" sz="2400" dirty="0">
                <a:sym typeface="+mn-ea"/>
              </a:rPr>
              <a:t>Dise</a:t>
            </a:r>
            <a:r>
              <a:rPr lang="es-VE" altLang="en-US" sz="2400" dirty="0">
                <a:sym typeface="+mn-ea"/>
              </a:rPr>
              <a:t>ño de APIs con RAML</a:t>
            </a:r>
            <a:endParaRPr lang="es-VE" altLang="en-US" sz="2400" dirty="0">
              <a:sym typeface="+mn-ea"/>
            </a:endParaRPr>
          </a:p>
        </p:txBody>
      </p:sp>
      <p:sp>
        <p:nvSpPr>
          <p:cNvPr id="5" name="Marcador de contenido 4"/>
          <p:cNvSpPr>
            <a:spLocks noGrp="1"/>
          </p:cNvSpPr>
          <p:nvPr>
            <p:ph idx="1"/>
          </p:nvPr>
        </p:nvSpPr>
        <p:spPr>
          <a:xfrm>
            <a:off x="709930" y="1343025"/>
            <a:ext cx="10434955" cy="4348480"/>
          </a:xfrm>
        </p:spPr>
        <p:txBody>
          <a:bodyPr>
            <a:noAutofit/>
          </a:bodyPr>
          <a:lstStyle/>
          <a:p>
            <a:pPr algn="just"/>
            <a:r>
              <a:rPr lang="en-US" altLang="es-ES" sz="1600" dirty="0"/>
              <a:t>Antes de implementar una API, es fundamental definir su comportamiento. Esto se realiza mediante una especificaci</a:t>
            </a:r>
            <a:r>
              <a:rPr lang="en-US" altLang="en-US" sz="1600" dirty="0"/>
              <a:t>ó</a:t>
            </a:r>
            <a:r>
              <a:rPr lang="en-US" altLang="es-ES" sz="1600" dirty="0"/>
              <a:t>n de API. MuleSoft promueve el dise</a:t>
            </a:r>
            <a:r>
              <a:rPr lang="en-US" altLang="en-US" sz="1600" dirty="0"/>
              <a:t>ñ</a:t>
            </a:r>
            <a:r>
              <a:rPr lang="en-US" altLang="es-ES" sz="1600" dirty="0"/>
              <a:t>o de API antes de su desarrollo mediante un lenguaje de especificaci</a:t>
            </a:r>
            <a:r>
              <a:rPr lang="en-US" altLang="en-US" sz="1600" dirty="0"/>
              <a:t>ó</a:t>
            </a:r>
            <a:r>
              <a:rPr lang="en-US" altLang="es-ES" sz="1600" dirty="0"/>
              <a:t>n llamado RAML (Lenguaje de Modelado de API RESTful). </a:t>
            </a:r>
            <a:endParaRPr lang="en-US" altLang="es-ES" sz="1600" dirty="0"/>
          </a:p>
          <a:p>
            <a:pPr algn="just"/>
            <a:r>
              <a:rPr lang="en-US" altLang="es-ES" sz="1600" dirty="0"/>
              <a:t>RAML permite a los equipos describir endpoints, m</a:t>
            </a:r>
            <a:r>
              <a:rPr lang="en-US" altLang="en-US" sz="1600" dirty="0"/>
              <a:t>é</a:t>
            </a:r>
            <a:r>
              <a:rPr lang="en-US" altLang="es-ES" sz="1600" dirty="0"/>
              <a:t>todos, formatos de solicitud y respuesta, tipos de datos y patrones reutilizables en un formato legible.</a:t>
            </a:r>
            <a:endParaRPr lang="en-US" altLang="es-ES" sz="1600" dirty="0"/>
          </a:p>
          <a:p>
            <a:pPr algn="just"/>
            <a:r>
              <a:rPr lang="en-US" altLang="es-ES" sz="1600" dirty="0"/>
              <a:t>RAML es un lenguaje basado en YAML que se utiliza para modelar API REST.</a:t>
            </a:r>
            <a:endParaRPr lang="en-US" altLang="es-ES" sz="1600" dirty="0"/>
          </a:p>
          <a:p>
            <a:pPr algn="just"/>
            <a:r>
              <a:rPr lang="en-US" altLang="es-ES" sz="1600" dirty="0"/>
              <a:t>Proporciona una forma estructurada de definir:</a:t>
            </a:r>
            <a:endParaRPr lang="en-US" altLang="es-ES" sz="1600" dirty="0"/>
          </a:p>
          <a:p>
            <a:pPr lvl="1" algn="just"/>
            <a:r>
              <a:rPr lang="en-US" altLang="es-ES" sz="1600" dirty="0"/>
              <a:t>Puntos finales disponibles</a:t>
            </a:r>
            <a:endParaRPr lang="en-US" altLang="es-ES" sz="1600" dirty="0"/>
          </a:p>
          <a:p>
            <a:pPr lvl="1" algn="just"/>
            <a:r>
              <a:rPr lang="en-US" altLang="es-ES" sz="1600" dirty="0"/>
              <a:t>M</a:t>
            </a:r>
            <a:r>
              <a:rPr lang="en-US" altLang="en-US" sz="1600" dirty="0"/>
              <a:t>é</a:t>
            </a:r>
            <a:r>
              <a:rPr lang="en-US" altLang="es-ES" sz="1600" dirty="0"/>
              <a:t>todos HTTP y c</a:t>
            </a:r>
            <a:r>
              <a:rPr lang="en-US" altLang="en-US" sz="1600" dirty="0"/>
              <a:t>ó</a:t>
            </a:r>
            <a:r>
              <a:rPr lang="en-US" altLang="es-ES" sz="1600" dirty="0"/>
              <a:t>digos de estado</a:t>
            </a:r>
            <a:endParaRPr lang="en-US" altLang="es-ES" sz="1600" dirty="0"/>
          </a:p>
          <a:p>
            <a:pPr lvl="1" algn="just"/>
            <a:r>
              <a:rPr lang="en-US" altLang="es-ES" sz="1600" dirty="0"/>
              <a:t>Estructuras de datos de entrada y salida</a:t>
            </a:r>
            <a:endParaRPr lang="en-US" altLang="es-ES" sz="1600" dirty="0"/>
          </a:p>
          <a:p>
            <a:pPr lvl="1" algn="just"/>
            <a:r>
              <a:rPr lang="en-US" altLang="es-ES" sz="1600" dirty="0"/>
              <a:t>Mecanismos de seguridad y autenticaci</a:t>
            </a:r>
            <a:r>
              <a:rPr lang="en-US" altLang="en-US" sz="1600" dirty="0"/>
              <a:t>ó</a:t>
            </a:r>
            <a:r>
              <a:rPr lang="en-US" altLang="es-ES" sz="1600" dirty="0"/>
              <a:t>n</a:t>
            </a:r>
            <a:endParaRPr lang="en-US" altLang="es-ES" sz="1600" dirty="0"/>
          </a:p>
          <a:p>
            <a:pPr lvl="1" algn="just"/>
            <a:r>
              <a:rPr lang="en-US" altLang="es-ES" sz="1600" dirty="0"/>
              <a:t>Documentaci</a:t>
            </a:r>
            <a:r>
              <a:rPr lang="en-US" altLang="en-US" sz="1600" dirty="0"/>
              <a:t>ó</a:t>
            </a:r>
            <a:r>
              <a:rPr lang="en-US" altLang="es-ES" sz="1600" dirty="0"/>
              <a:t>n y ejemplos</a:t>
            </a:r>
            <a:endParaRPr lang="en-US" altLang="es-ES" sz="1600" dirty="0"/>
          </a:p>
          <a:p>
            <a:pPr lvl="1" algn="just"/>
            <a:r>
              <a:rPr lang="en-US" altLang="es-ES" sz="1600" dirty="0"/>
              <a:t>RAML facilita la reutilizaci</a:t>
            </a:r>
            <a:r>
              <a:rPr lang="en-US" altLang="en-US" sz="1600" dirty="0"/>
              <a:t>ó</a:t>
            </a:r>
            <a:r>
              <a:rPr lang="en-US" altLang="es-ES" sz="1600" dirty="0"/>
              <a:t>n y la modularidad mediante tipos de recursos, rasgos y tipos de datos, lo que mejora la mantenibilidad y la consistencia</a:t>
            </a:r>
            <a:endParaRPr lang="en-US" altLang="es-ES" sz="1600" dirty="0"/>
          </a:p>
          <a:p>
            <a:pPr lvl="1" algn="just"/>
            <a:endParaRPr lang="en-US" altLang="es-ES" sz="1600" dirty="0"/>
          </a:p>
          <a:p>
            <a:pPr marL="0" indent="0" algn="just">
              <a:buNone/>
            </a:pPr>
            <a:endParaRPr lang="es-VE" altLang="es-CO"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Anypoint Platform </a:t>
            </a:r>
            <a:r>
              <a:rPr lang="es-CO" sz="2400" dirty="0">
                <a:sym typeface="+mn-ea"/>
              </a:rPr>
              <a:t>–</a:t>
            </a:r>
            <a:r>
              <a:rPr lang="es-VE" altLang="es-CO" sz="2400" dirty="0">
                <a:sym typeface="+mn-ea"/>
              </a:rPr>
              <a:t> </a:t>
            </a:r>
            <a:r>
              <a:rPr lang="es-VE" sz="2400" dirty="0">
                <a:sym typeface="+mn-ea"/>
              </a:rPr>
              <a:t>Estructura de archivos RAML</a:t>
            </a:r>
            <a:endParaRPr lang="es-VE" sz="2400" dirty="0">
              <a:sym typeface="+mn-ea"/>
            </a:endParaRPr>
          </a:p>
        </p:txBody>
      </p:sp>
      <p:sp>
        <p:nvSpPr>
          <p:cNvPr id="4" name="Cuadro de texto 3"/>
          <p:cNvSpPr txBox="1"/>
          <p:nvPr/>
        </p:nvSpPr>
        <p:spPr>
          <a:xfrm>
            <a:off x="3048000" y="1167130"/>
            <a:ext cx="6096000" cy="5077460"/>
          </a:xfrm>
          <a:prstGeom prst="rect">
            <a:avLst/>
          </a:prstGeom>
          <a:noFill/>
        </p:spPr>
        <p:txBody>
          <a:bodyPr wrap="square" rtlCol="0" anchor="t">
            <a:spAutoFit/>
          </a:bodyPr>
          <a:p>
            <a:r>
              <a:rPr lang="en-US" altLang="es-ES"/>
              <a:t>#%RAML 1.0</a:t>
            </a:r>
            <a:endParaRPr lang="en-US" altLang="es-ES"/>
          </a:p>
          <a:p>
            <a:r>
              <a:rPr lang="en-US" altLang="es-ES"/>
              <a:t>title: Customer API</a:t>
            </a:r>
            <a:endParaRPr lang="en-US" altLang="es-ES"/>
          </a:p>
          <a:p>
            <a:r>
              <a:rPr lang="es-VE" altLang="en-US"/>
              <a:t>version: V1</a:t>
            </a:r>
            <a:endParaRPr lang="en-US" altLang="es-ES"/>
          </a:p>
          <a:p>
            <a:r>
              <a:rPr lang="es-VE" altLang="en-US"/>
              <a:t>baseUri: https:</a:t>
            </a:r>
            <a:r>
              <a:rPr lang="en-US" altLang="es-VE"/>
              <a:t>//api.example.com/{version}</a:t>
            </a:r>
            <a:endParaRPr lang="en-US" altLang="es-ES"/>
          </a:p>
          <a:p>
            <a:endParaRPr lang="en-US" altLang="es-ES"/>
          </a:p>
          <a:p>
            <a:r>
              <a:rPr lang="en-US" altLang="es-ES"/>
              <a:t>/customer:</a:t>
            </a:r>
            <a:endParaRPr lang="en-US" altLang="es-ES"/>
          </a:p>
          <a:p>
            <a:r>
              <a:rPr lang="en-US" altLang="es-ES"/>
              <a:t>  get:</a:t>
            </a:r>
            <a:endParaRPr lang="en-US" altLang="es-ES"/>
          </a:p>
          <a:p>
            <a:r>
              <a:rPr lang="en-US" altLang="es-ES"/>
              <a:t>    description: Obtiene informaci</a:t>
            </a:r>
            <a:r>
              <a:rPr lang="en-US" altLang="en-US"/>
              <a:t>ó</a:t>
            </a:r>
            <a:r>
              <a:rPr lang="en-US" altLang="es-ES"/>
              <a:t>n sobre un cliente.</a:t>
            </a:r>
            <a:endParaRPr lang="en-US" altLang="es-ES"/>
          </a:p>
          <a:p>
            <a:r>
              <a:rPr lang="en-US" altLang="es-ES"/>
              <a:t>    responses:</a:t>
            </a:r>
            <a:endParaRPr lang="en-US" altLang="es-ES"/>
          </a:p>
          <a:p>
            <a:r>
              <a:rPr lang="en-US" altLang="es-ES"/>
              <a:t>      200:</a:t>
            </a:r>
            <a:endParaRPr lang="en-US" altLang="es-ES"/>
          </a:p>
          <a:p>
            <a:r>
              <a:rPr lang="en-US" altLang="es-ES"/>
              <a:t>        body:</a:t>
            </a:r>
            <a:endParaRPr lang="en-US" altLang="es-ES"/>
          </a:p>
          <a:p>
            <a:r>
              <a:rPr lang="en-US" altLang="es-ES"/>
              <a:t>          application/json:</a:t>
            </a:r>
            <a:endParaRPr lang="en-US" altLang="es-ES"/>
          </a:p>
          <a:p>
            <a:r>
              <a:rPr lang="en-US" altLang="es-ES"/>
              <a:t>            example: |</a:t>
            </a:r>
            <a:endParaRPr lang="en-US" altLang="es-ES"/>
          </a:p>
          <a:p>
            <a:r>
              <a:rPr lang="en-US" altLang="es-ES"/>
              <a:t>              {</a:t>
            </a:r>
            <a:endParaRPr lang="en-US" altLang="es-ES"/>
          </a:p>
          <a:p>
            <a:r>
              <a:rPr lang="en-US" altLang="es-ES"/>
              <a:t>                "customerId": "12345",</a:t>
            </a:r>
            <a:endParaRPr lang="en-US" altLang="es-ES"/>
          </a:p>
          <a:p>
            <a:r>
              <a:rPr lang="en-US" altLang="es-ES"/>
              <a:t>                "name": "Juan P</a:t>
            </a:r>
            <a:r>
              <a:rPr lang="en-US" altLang="en-US"/>
              <a:t>é</a:t>
            </a:r>
            <a:r>
              <a:rPr lang="en-US" altLang="es-ES"/>
              <a:t>rez",</a:t>
            </a:r>
            <a:endParaRPr lang="en-US" altLang="es-ES"/>
          </a:p>
          <a:p>
            <a:r>
              <a:rPr lang="en-US" altLang="es-ES"/>
              <a:t>                "email": "juan.perez@example.com"</a:t>
            </a:r>
            <a:endParaRPr lang="en-US" altLang="es-ES"/>
          </a:p>
          <a:p>
            <a:r>
              <a:rPr lang="en-US" altLang="es-ES"/>
              <a:t>              }</a:t>
            </a:r>
            <a:endParaRPr lang="es-E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Anypoint Platform</a:t>
            </a:r>
            <a:r>
              <a:rPr lang="en-US" altLang="es-VE" sz="2400" dirty="0">
                <a:sym typeface="+mn-ea"/>
              </a:rPr>
              <a:t> </a:t>
            </a:r>
            <a:r>
              <a:rPr lang="es-CO" sz="2400" dirty="0">
                <a:sym typeface="+mn-ea"/>
              </a:rPr>
              <a:t>–</a:t>
            </a:r>
            <a:r>
              <a:rPr lang="en-US" altLang="es-CO" sz="2400" dirty="0">
                <a:sym typeface="+mn-ea"/>
              </a:rPr>
              <a:t> Dise</a:t>
            </a:r>
            <a:r>
              <a:rPr lang="es-VE" altLang="en-US" sz="2400" dirty="0">
                <a:sym typeface="+mn-ea"/>
              </a:rPr>
              <a:t>ño de APIs con RAML</a:t>
            </a:r>
            <a:endParaRPr lang="es-VE" altLang="en-US"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s-VE" altLang="es-CO" sz="1600" dirty="0"/>
              <a:t>Componentes de un archivo RAML</a:t>
            </a:r>
            <a:endParaRPr lang="es-VE" altLang="es-CO" sz="1600" dirty="0"/>
          </a:p>
        </p:txBody>
      </p:sp>
      <p:graphicFrame>
        <p:nvGraphicFramePr>
          <p:cNvPr id="8" name="Tabla 7"/>
          <p:cNvGraphicFramePr>
            <a:graphicFrameLocks noGrp="1"/>
          </p:cNvGraphicFramePr>
          <p:nvPr/>
        </p:nvGraphicFramePr>
        <p:xfrm>
          <a:off x="2553785" y="2876455"/>
          <a:ext cx="7200265" cy="3016885"/>
        </p:xfrm>
        <a:graphic>
          <a:graphicData uri="http://schemas.openxmlformats.org/drawingml/2006/table">
            <a:tbl>
              <a:tblPr/>
              <a:tblGrid>
                <a:gridCol w="2246121"/>
                <a:gridCol w="4953879"/>
              </a:tblGrid>
              <a:tr h="274243">
                <a:tc>
                  <a:txBody>
                    <a:bodyPr/>
                    <a:lstStyle/>
                    <a:p>
                      <a:pPr>
                        <a:buNone/>
                      </a:pPr>
                      <a:r>
                        <a:rPr lang="es-VE" altLang="es-CO" sz="1200" b="1"/>
                        <a:t>Componente</a:t>
                      </a:r>
                      <a:endParaRPr lang="es-VE" altLang="es-CO"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VE" altLang="es-CO" sz="1200" b="1" dirty="0"/>
                        <a:t>Descripción</a:t>
                      </a:r>
                      <a:endParaRPr lang="es-VE" altLang="es-CO" sz="1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b="0"/>
                        <a:t>Recursos</a:t>
                      </a:r>
                      <a:endParaRPr lang="es-VE" altLang="es-CO"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s-ES" sz="1200" b="0" dirty="0"/>
                        <a:t>Representan los puntos finales de la API (p. ej., /clientes)</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b="0" dirty="0"/>
                        <a:t>Métodos</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s-ES" sz="1200" b="0" dirty="0"/>
                        <a:t>Operaciones HTTP compatibles con un recurso (GET, POST, PUT, DELETE, etc.)</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lstStyle/>
                    <a:p>
                      <a:pPr>
                        <a:buNone/>
                      </a:pPr>
                      <a:r>
                        <a:rPr lang="es-VE" altLang="es-CO" sz="1200" b="0"/>
                        <a:t>Elementos de Solicitud</a:t>
                      </a:r>
                      <a:endParaRPr lang="es-VE" altLang="es-CO"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s-ES" sz="1200" b="0" dirty="0"/>
                        <a:t>Par</a:t>
                      </a:r>
                      <a:r>
                        <a:rPr lang="en-US" altLang="en-US" sz="1200" b="0" dirty="0"/>
                        <a:t>á</a:t>
                      </a:r>
                      <a:r>
                        <a:rPr lang="en-US" altLang="es-ES" sz="1200" b="0" dirty="0"/>
                        <a:t>metros (consulta, URI), encabezados y cuerpo de la solicitud</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s-CO" sz="1200" b="0"/>
                        <a:t>Elementos de Respuesta</a:t>
                      </a:r>
                      <a:endParaRPr lang="es-VE" altLang="es-CO"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C</a:t>
                      </a:r>
                      <a:r>
                        <a:rPr lang="en-US" altLang="en-US" sz="1200" b="0" dirty="0"/>
                        <a:t>ó</a:t>
                      </a:r>
                      <a:r>
                        <a:rPr lang="en-US" altLang="es-ES" sz="1200" b="0" dirty="0"/>
                        <a:t>digos de estado, cuerpo y encabezados de la respuesta</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n-US" sz="1200" b="0"/>
                        <a:t>Tipos de datos</a:t>
                      </a:r>
                      <a:endParaRPr lang="es-VE" altLang="en-US"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Definir y reutilizar esquemas de objetos</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n-US" sz="1200" b="0"/>
                        <a:t>Ejemplos</a:t>
                      </a:r>
                      <a:endParaRPr lang="es-VE" altLang="en-US"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Proporcionar ejemplos de cargas </a:t>
                      </a:r>
                      <a:r>
                        <a:rPr lang="en-US" altLang="en-US" sz="1200" b="0" dirty="0"/>
                        <a:t>ú</a:t>
                      </a:r>
                      <a:r>
                        <a:rPr lang="en-US" altLang="es-ES" sz="1200" b="0" dirty="0"/>
                        <a:t>tiles de solicitud o respuesta</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 </a:t>
            </a:r>
            <a:r>
              <a:rPr lang="es-VE" altLang="es-CO" sz="2400" dirty="0">
                <a:sym typeface="+mn-ea"/>
              </a:rPr>
              <a:t>Anypoint Platform</a:t>
            </a:r>
            <a:r>
              <a:rPr lang="en-US" altLang="es-VE" sz="2400" dirty="0">
                <a:sym typeface="+mn-ea"/>
              </a:rPr>
              <a:t> </a:t>
            </a:r>
            <a:r>
              <a:rPr lang="es-CO" sz="2400" dirty="0">
                <a:sym typeface="+mn-ea"/>
              </a:rPr>
              <a:t>–</a:t>
            </a:r>
            <a:r>
              <a:rPr lang="en-US" altLang="es-CO" sz="2400" dirty="0">
                <a:sym typeface="+mn-ea"/>
              </a:rPr>
              <a:t> </a:t>
            </a:r>
            <a:r>
              <a:rPr lang="es-VE" sz="2400" dirty="0">
                <a:sym typeface="+mn-ea"/>
              </a:rPr>
              <a:t>Eventos y mensajes de Mule</a:t>
            </a:r>
            <a:endParaRPr lang="es-VE"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n-US" altLang="es-ES" sz="1600" dirty="0"/>
              <a:t>En Mule 4, cada vez que los datos se mueven a trav</a:t>
            </a:r>
            <a:r>
              <a:rPr lang="en-US" altLang="en-US" sz="1600" dirty="0"/>
              <a:t>é</a:t>
            </a:r>
            <a:r>
              <a:rPr lang="en-US" altLang="es-ES" sz="1600" dirty="0"/>
              <a:t>s de una aplicaci</a:t>
            </a:r>
            <a:r>
              <a:rPr lang="en-US" altLang="en-US" sz="1600" dirty="0"/>
              <a:t>ó</a:t>
            </a:r>
            <a:r>
              <a:rPr lang="en-US" altLang="es-ES" sz="1600" dirty="0"/>
              <a:t>n, se encapsulan en un evento Mule.</a:t>
            </a:r>
            <a:endParaRPr lang="en-US" altLang="es-ES" sz="1600" dirty="0"/>
          </a:p>
          <a:p>
            <a:pPr algn="just"/>
            <a:r>
              <a:rPr lang="en-US" altLang="es-ES" sz="1600" dirty="0"/>
              <a:t> Comprender la estructura y el ciclo de vida de este evento es esencial para crear y solucionar problemas de aplicaciones Mule eficazmente. </a:t>
            </a:r>
            <a:endParaRPr lang="en-US" altLang="es-ES" sz="1600" dirty="0"/>
          </a:p>
          <a:p>
            <a:pPr algn="just"/>
            <a:r>
              <a:rPr lang="en-US" altLang="es-ES" sz="1600" dirty="0"/>
              <a:t>Cada evento Mule contiene un mensaje Mule, que incluye los datos principales que se procesan, as</a:t>
            </a:r>
            <a:r>
              <a:rPr lang="en-US" altLang="en-US" sz="1600" dirty="0"/>
              <a:t>í</a:t>
            </a:r>
            <a:r>
              <a:rPr lang="en-US" altLang="es-ES" sz="1600" dirty="0"/>
              <a:t> como metadatos e informaci</a:t>
            </a:r>
            <a:r>
              <a:rPr lang="en-US" altLang="en-US" sz="1600" dirty="0"/>
              <a:t>ó</a:t>
            </a:r>
            <a:r>
              <a:rPr lang="en-US" altLang="es-ES" sz="1600" dirty="0"/>
              <a:t>n contextual utilizada durante la ejecuci</a:t>
            </a:r>
            <a:r>
              <a:rPr lang="en-US" altLang="en-US" sz="1600" dirty="0"/>
              <a:t>ó</a:t>
            </a:r>
            <a:r>
              <a:rPr lang="en-US" altLang="es-ES" sz="1600" dirty="0"/>
              <a:t>n del flujo.</a:t>
            </a:r>
            <a:endParaRPr lang="en-US" altLang="es-E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2400" dirty="0" err="1">
                <a:sym typeface="+mn-ea"/>
              </a:rPr>
              <a:t>MuleSoft</a:t>
            </a:r>
            <a:r>
              <a:rPr lang="es-CO" sz="2400" dirty="0">
                <a:sym typeface="+mn-ea"/>
              </a:rPr>
              <a:t> – </a:t>
            </a:r>
            <a:r>
              <a:rPr lang="es-VE" altLang="es-CO" sz="2400" dirty="0">
                <a:sym typeface="+mn-ea"/>
              </a:rPr>
              <a:t>Anypoint Platform</a:t>
            </a:r>
            <a:r>
              <a:rPr lang="en-US" altLang="es-VE" sz="2400" dirty="0">
                <a:sym typeface="+mn-ea"/>
              </a:rPr>
              <a:t> </a:t>
            </a:r>
            <a:r>
              <a:rPr lang="es-CO" sz="2400" dirty="0">
                <a:sym typeface="+mn-ea"/>
              </a:rPr>
              <a:t>–</a:t>
            </a:r>
            <a:r>
              <a:rPr lang="en-US" altLang="es-CO" sz="2400" dirty="0">
                <a:sym typeface="+mn-ea"/>
              </a:rPr>
              <a:t> </a:t>
            </a:r>
            <a:r>
              <a:rPr lang="es-VE" sz="2400" dirty="0">
                <a:sym typeface="+mn-ea"/>
              </a:rPr>
              <a:t>Eventos y mensajes de Mule</a:t>
            </a:r>
            <a:endParaRPr lang="es-VE" sz="2400" dirty="0">
              <a:sym typeface="+mn-ea"/>
            </a:endParaRPr>
          </a:p>
        </p:txBody>
      </p:sp>
      <p:sp>
        <p:nvSpPr>
          <p:cNvPr id="5" name="Marcador de contenido 4"/>
          <p:cNvSpPr>
            <a:spLocks noGrp="1"/>
          </p:cNvSpPr>
          <p:nvPr>
            <p:ph sz="half" idx="1"/>
          </p:nvPr>
        </p:nvSpPr>
        <p:spPr/>
        <p:txBody>
          <a:bodyPr>
            <a:noAutofit/>
          </a:bodyPr>
          <a:lstStyle/>
          <a:p>
            <a:pPr algn="just"/>
            <a:r>
              <a:rPr lang="es-VE" altLang="en-US" sz="1600" dirty="0"/>
              <a:t>Un evento de Mule consiste en las siguientes partes:</a:t>
            </a:r>
            <a:endParaRPr lang="es-VE" altLang="en-US" sz="1600" dirty="0"/>
          </a:p>
        </p:txBody>
      </p:sp>
      <p:grpSp>
        <p:nvGrpSpPr>
          <p:cNvPr id="18" name="Grupo 17"/>
          <p:cNvGrpSpPr/>
          <p:nvPr/>
        </p:nvGrpSpPr>
        <p:grpSpPr>
          <a:xfrm>
            <a:off x="2182495" y="2611120"/>
            <a:ext cx="6369050" cy="3756660"/>
            <a:chOff x="3437" y="4112"/>
            <a:chExt cx="10030" cy="5916"/>
          </a:xfrm>
        </p:grpSpPr>
        <p:sp>
          <p:nvSpPr>
            <p:cNvPr id="4" name="Rectángulo 3"/>
            <p:cNvSpPr/>
            <p:nvPr/>
          </p:nvSpPr>
          <p:spPr>
            <a:xfrm>
              <a:off x="3437" y="4112"/>
              <a:ext cx="10031" cy="5917"/>
            </a:xfrm>
            <a:prstGeom prst="rect">
              <a:avLst/>
            </a:prstGeom>
            <a:noFill/>
            <a:ln>
              <a:solidFill>
                <a:schemeClr val="accent4"/>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s-ES" altLang="en-US"/>
            </a:p>
          </p:txBody>
        </p:sp>
        <p:sp>
          <p:nvSpPr>
            <p:cNvPr id="6" name="Cuadro de texto 5"/>
            <p:cNvSpPr txBox="1"/>
            <p:nvPr/>
          </p:nvSpPr>
          <p:spPr>
            <a:xfrm>
              <a:off x="11209" y="4285"/>
              <a:ext cx="2080" cy="580"/>
            </a:xfrm>
            <a:prstGeom prst="rect">
              <a:avLst/>
            </a:prstGeom>
            <a:noFill/>
          </p:spPr>
          <p:txBody>
            <a:bodyPr wrap="square" rtlCol="0">
              <a:spAutoFit/>
            </a:bodyPr>
            <a:p>
              <a:r>
                <a:rPr lang="es-VE" altLang="es-ES"/>
                <a:t>Mule Event</a:t>
              </a:r>
              <a:endParaRPr lang="es-VE" altLang="es-ES"/>
            </a:p>
          </p:txBody>
        </p:sp>
        <p:sp>
          <p:nvSpPr>
            <p:cNvPr id="7" name="Rectángulo 6"/>
            <p:cNvSpPr/>
            <p:nvPr/>
          </p:nvSpPr>
          <p:spPr>
            <a:xfrm>
              <a:off x="3661" y="4931"/>
              <a:ext cx="9583" cy="3584"/>
            </a:xfrm>
            <a:prstGeom prst="rect">
              <a:avLst/>
            </a:prstGeom>
            <a:noFill/>
            <a:ln>
              <a:solidFill>
                <a:srgbClr val="00B05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s-ES" altLang="en-US"/>
            </a:p>
          </p:txBody>
        </p:sp>
        <p:sp>
          <p:nvSpPr>
            <p:cNvPr id="9" name="Cuadro de texto 8"/>
            <p:cNvSpPr txBox="1"/>
            <p:nvPr/>
          </p:nvSpPr>
          <p:spPr>
            <a:xfrm>
              <a:off x="10495" y="5052"/>
              <a:ext cx="2628" cy="580"/>
            </a:xfrm>
            <a:prstGeom prst="rect">
              <a:avLst/>
            </a:prstGeom>
            <a:noFill/>
          </p:spPr>
          <p:txBody>
            <a:bodyPr wrap="square" rtlCol="0">
              <a:spAutoFit/>
            </a:bodyPr>
            <a:p>
              <a:r>
                <a:rPr lang="es-VE" altLang="es-ES"/>
                <a:t>Mule Message</a:t>
              </a:r>
              <a:endParaRPr lang="es-VE" altLang="es-ES"/>
            </a:p>
          </p:txBody>
        </p:sp>
        <p:sp>
          <p:nvSpPr>
            <p:cNvPr id="10" name="Rectángulo 9"/>
            <p:cNvSpPr/>
            <p:nvPr/>
          </p:nvSpPr>
          <p:spPr>
            <a:xfrm>
              <a:off x="4091" y="5858"/>
              <a:ext cx="8624" cy="1010"/>
            </a:xfrm>
            <a:prstGeom prst="rect">
              <a:avLst/>
            </a:prstGeom>
            <a:solidFill>
              <a:schemeClr val="tx1"/>
            </a:solidFill>
            <a:ln>
              <a:solidFill>
                <a:srgbClr val="92D05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s-ES" altLang="en-US"/>
            </a:p>
          </p:txBody>
        </p:sp>
        <p:sp>
          <p:nvSpPr>
            <p:cNvPr id="11" name="Rectángulo 10"/>
            <p:cNvSpPr/>
            <p:nvPr/>
          </p:nvSpPr>
          <p:spPr>
            <a:xfrm>
              <a:off x="4091" y="7217"/>
              <a:ext cx="8624" cy="1010"/>
            </a:xfrm>
            <a:prstGeom prst="rect">
              <a:avLst/>
            </a:prstGeom>
            <a:solidFill>
              <a:schemeClr val="accent4"/>
            </a:solidFill>
            <a:ln>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s-ES" altLang="en-US"/>
            </a:p>
          </p:txBody>
        </p:sp>
        <p:sp>
          <p:nvSpPr>
            <p:cNvPr id="12" name="Rectángulo 11"/>
            <p:cNvSpPr/>
            <p:nvPr/>
          </p:nvSpPr>
          <p:spPr>
            <a:xfrm>
              <a:off x="4208" y="8733"/>
              <a:ext cx="8624" cy="1010"/>
            </a:xfrm>
            <a:prstGeom prst="rect">
              <a:avLst/>
            </a:prstGeom>
            <a:solidFill>
              <a:schemeClr val="tx1"/>
            </a:solidFill>
            <a:ln>
              <a:solidFill>
                <a:srgbClr val="FFFF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s-ES" altLang="en-US"/>
            </a:p>
          </p:txBody>
        </p:sp>
        <p:sp>
          <p:nvSpPr>
            <p:cNvPr id="13" name="Cuadro de texto 12"/>
            <p:cNvSpPr txBox="1"/>
            <p:nvPr/>
          </p:nvSpPr>
          <p:spPr>
            <a:xfrm>
              <a:off x="4208" y="5920"/>
              <a:ext cx="1915" cy="580"/>
            </a:xfrm>
            <a:prstGeom prst="rect">
              <a:avLst/>
            </a:prstGeom>
            <a:noFill/>
          </p:spPr>
          <p:txBody>
            <a:bodyPr wrap="square" rtlCol="0">
              <a:spAutoFit/>
            </a:bodyPr>
            <a:p>
              <a:r>
                <a:rPr lang="es-VE" altLang="es-ES">
                  <a:solidFill>
                    <a:schemeClr val="tx2"/>
                  </a:solidFill>
                </a:rPr>
                <a:t>Attributes</a:t>
              </a:r>
              <a:endParaRPr lang="es-VE" altLang="es-ES">
                <a:solidFill>
                  <a:schemeClr val="tx2"/>
                </a:solidFill>
              </a:endParaRPr>
            </a:p>
          </p:txBody>
        </p:sp>
        <p:sp>
          <p:nvSpPr>
            <p:cNvPr id="14" name="Cuadro de texto 13"/>
            <p:cNvSpPr txBox="1"/>
            <p:nvPr/>
          </p:nvSpPr>
          <p:spPr>
            <a:xfrm>
              <a:off x="4208" y="7292"/>
              <a:ext cx="1637" cy="580"/>
            </a:xfrm>
            <a:prstGeom prst="rect">
              <a:avLst/>
            </a:prstGeom>
            <a:noFill/>
          </p:spPr>
          <p:txBody>
            <a:bodyPr wrap="square" rtlCol="0">
              <a:spAutoFit/>
            </a:bodyPr>
            <a:p>
              <a:r>
                <a:rPr lang="es-VE" altLang="es-ES"/>
                <a:t>Payload</a:t>
              </a:r>
              <a:endParaRPr lang="es-VE" altLang="es-ES"/>
            </a:p>
          </p:txBody>
        </p:sp>
        <p:sp>
          <p:nvSpPr>
            <p:cNvPr id="15" name="Cuadro de texto 14"/>
            <p:cNvSpPr txBox="1"/>
            <p:nvPr/>
          </p:nvSpPr>
          <p:spPr>
            <a:xfrm>
              <a:off x="4347" y="8860"/>
              <a:ext cx="1775" cy="580"/>
            </a:xfrm>
            <a:prstGeom prst="rect">
              <a:avLst/>
            </a:prstGeom>
            <a:noFill/>
          </p:spPr>
          <p:txBody>
            <a:bodyPr wrap="square" rtlCol="0">
              <a:spAutoFit/>
            </a:bodyPr>
            <a:p>
              <a:r>
                <a:rPr lang="es-VE" altLang="es-ES">
                  <a:solidFill>
                    <a:schemeClr val="tx2"/>
                  </a:solidFill>
                </a:rPr>
                <a:t>Variables</a:t>
              </a:r>
              <a:endParaRPr lang="es-VE" altLang="es-ES">
                <a:solidFill>
                  <a:schemeClr val="tx2"/>
                </a:solidFil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2400" dirty="0" err="1">
                <a:sym typeface="+mn-ea"/>
              </a:rPr>
              <a:t>MuleSoft</a:t>
            </a:r>
            <a:r>
              <a:rPr lang="es-CO" sz="2400" dirty="0">
                <a:sym typeface="+mn-ea"/>
              </a:rPr>
              <a:t> – </a:t>
            </a:r>
            <a:r>
              <a:rPr lang="es-VE" altLang="es-CO" sz="2400" dirty="0">
                <a:sym typeface="+mn-ea"/>
              </a:rPr>
              <a:t>Anypoint Platform</a:t>
            </a:r>
            <a:r>
              <a:rPr lang="en-US" altLang="es-VE" sz="2400" dirty="0">
                <a:sym typeface="+mn-ea"/>
              </a:rPr>
              <a:t> </a:t>
            </a:r>
            <a:r>
              <a:rPr lang="es-CO" sz="2400" dirty="0">
                <a:sym typeface="+mn-ea"/>
              </a:rPr>
              <a:t>–</a:t>
            </a:r>
            <a:r>
              <a:rPr lang="en-US" altLang="es-CO" sz="2400" dirty="0">
                <a:sym typeface="+mn-ea"/>
              </a:rPr>
              <a:t> </a:t>
            </a:r>
            <a:r>
              <a:rPr lang="es-VE" sz="2400" dirty="0">
                <a:sym typeface="+mn-ea"/>
              </a:rPr>
              <a:t>Eventos y mensajes de Mule</a:t>
            </a:r>
            <a:endParaRPr lang="es-VE" sz="2400" dirty="0">
              <a:sym typeface="+mn-ea"/>
            </a:endParaRPr>
          </a:p>
        </p:txBody>
      </p:sp>
      <p:sp>
        <p:nvSpPr>
          <p:cNvPr id="5" name="Marcador de contenido 4"/>
          <p:cNvSpPr>
            <a:spLocks noGrp="1"/>
          </p:cNvSpPr>
          <p:nvPr>
            <p:ph sz="half" idx="1"/>
          </p:nvPr>
        </p:nvSpPr>
        <p:spPr/>
        <p:txBody>
          <a:bodyPr>
            <a:noAutofit/>
          </a:bodyPr>
          <a:lstStyle/>
          <a:p>
            <a:pPr algn="just"/>
            <a:r>
              <a:rPr lang="es-VE" altLang="en-US" sz="1600" dirty="0"/>
              <a:t>Un evento de Mule consiste en las siguientes partes:</a:t>
            </a:r>
            <a:endParaRPr lang="es-VE" altLang="en-US" sz="1600" dirty="0"/>
          </a:p>
        </p:txBody>
      </p:sp>
      <p:graphicFrame>
        <p:nvGraphicFramePr>
          <p:cNvPr id="8" name="Marcador de posición de contenido 7"/>
          <p:cNvGraphicFramePr>
            <a:graphicFrameLocks noGrp="1"/>
          </p:cNvGraphicFramePr>
          <p:nvPr>
            <p:ph sz="half" idx="2"/>
          </p:nvPr>
        </p:nvGraphicFramePr>
        <p:xfrm>
          <a:off x="2943225" y="2818765"/>
          <a:ext cx="5181600" cy="3017520"/>
        </p:xfrm>
        <a:graphic>
          <a:graphicData uri="http://schemas.openxmlformats.org/drawingml/2006/table">
            <a:tbl>
              <a:tblPr/>
              <a:tblGrid>
                <a:gridCol w="1616075"/>
                <a:gridCol w="3565525"/>
              </a:tblGrid>
              <a:tr h="274243">
                <a:tc>
                  <a:txBody>
                    <a:bodyPr/>
                    <a:p>
                      <a:pPr>
                        <a:buNone/>
                      </a:pPr>
                      <a:r>
                        <a:rPr lang="es-VE" altLang="es-CO" sz="1200" b="1"/>
                        <a:t>Componente</a:t>
                      </a:r>
                      <a:endParaRPr lang="es-VE" altLang="es-CO"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s-VE" altLang="es-CO" sz="1200" b="1" dirty="0"/>
                        <a:t>Descripción</a:t>
                      </a:r>
                      <a:endParaRPr lang="es-VE" altLang="es-CO" sz="1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s-CO" sz="1200" b="0"/>
                        <a:t>Mensaje</a:t>
                      </a:r>
                      <a:endParaRPr lang="es-VE" altLang="es-CO"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La estructura de datos que se pasa entre los componentes, compuesta por la carga </a:t>
                      </a:r>
                      <a:r>
                        <a:rPr lang="en-US" altLang="en-US" sz="1200" b="0" dirty="0"/>
                        <a:t>ú</a:t>
                      </a:r>
                      <a:r>
                        <a:rPr lang="en-US" altLang="es-ES" sz="1200" b="0" dirty="0"/>
                        <a:t>til y los atributos.</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s-CO" sz="1200" b="0" dirty="0"/>
                        <a:t>Variables</a:t>
                      </a:r>
                      <a:endParaRPr lang="es-VE" altLang="es-CO"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Datos temporales adicionales utilizados durante la ejecuci</a:t>
                      </a:r>
                      <a:r>
                        <a:rPr lang="en-US" altLang="en-US" sz="1200" b="0" dirty="0"/>
                        <a:t>ó</a:t>
                      </a:r>
                      <a:r>
                        <a:rPr lang="en-US" altLang="es-ES" sz="1200" b="0" dirty="0"/>
                        <a:t>n del flujo.</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s-CO" sz="1200" b="0"/>
                        <a:t>Error</a:t>
                      </a:r>
                      <a:endParaRPr lang="es-VE" altLang="es-CO"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Informaci</a:t>
                      </a:r>
                      <a:r>
                        <a:rPr lang="en-US" altLang="en-US" sz="1200" b="0" dirty="0"/>
                        <a:t>ó</a:t>
                      </a:r>
                      <a:r>
                        <a:rPr lang="en-US" altLang="es-ES" sz="1200" b="0" dirty="0"/>
                        <a:t>n de error presente si el flujo encuentra excepciones.</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4000" dirty="0" err="1"/>
              <a:t>MuleSoft</a:t>
            </a:r>
            <a:r>
              <a:rPr lang="es-CO" sz="4000" dirty="0"/>
              <a:t> –</a:t>
            </a:r>
            <a:r>
              <a:rPr lang="es-VE" altLang="es-CO" sz="4000" dirty="0"/>
              <a:t> Construyendo Aplicaciones </a:t>
            </a:r>
            <a:endParaRPr lang="es-VE" altLang="es-CO"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a:t>
            </a:r>
            <a:r>
              <a:rPr lang="es-VE" altLang="es-CO" sz="2400" dirty="0">
                <a:sym typeface="+mn-ea"/>
              </a:rPr>
              <a:t> </a:t>
            </a:r>
            <a:r>
              <a:rPr lang="es-VE" altLang="es-CO" sz="2400" dirty="0">
                <a:sym typeface="+mn-ea"/>
              </a:rPr>
              <a:t>Construyendo Aplicaciones</a:t>
            </a:r>
            <a:endParaRPr lang="es-VE" sz="2400" dirty="0">
              <a:sym typeface="+mn-ea"/>
            </a:endParaRPr>
          </a:p>
        </p:txBody>
      </p:sp>
      <p:sp>
        <p:nvSpPr>
          <p:cNvPr id="5" name="Marcador de contenido 4"/>
          <p:cNvSpPr>
            <a:spLocks noGrp="1"/>
          </p:cNvSpPr>
          <p:nvPr>
            <p:ph idx="1"/>
          </p:nvPr>
        </p:nvSpPr>
        <p:spPr>
          <a:xfrm>
            <a:off x="710184" y="1343218"/>
            <a:ext cx="10435144" cy="2296798"/>
          </a:xfrm>
        </p:spPr>
        <p:txBody>
          <a:bodyPr>
            <a:noAutofit/>
          </a:bodyPr>
          <a:lstStyle/>
          <a:p>
            <a:pPr algn="just"/>
            <a:r>
              <a:rPr lang="en-US" altLang="es-ES" sz="1600" dirty="0"/>
              <a:t>Una vez dise</a:t>
            </a:r>
            <a:r>
              <a:rPr lang="en-US" altLang="en-US" sz="1600" dirty="0"/>
              <a:t>ñ</a:t>
            </a:r>
            <a:r>
              <a:rPr lang="en-US" altLang="es-ES" sz="1600" dirty="0"/>
              <a:t>ada y especificada una API, el siguiente paso es la implementaci</a:t>
            </a:r>
            <a:r>
              <a:rPr lang="en-US" altLang="en-US" sz="1600" dirty="0"/>
              <a:t>ó</a:t>
            </a:r>
            <a:r>
              <a:rPr lang="en-US" altLang="es-ES" sz="1600" dirty="0"/>
              <a:t>n. En MuleSoft, esto se logra mediante la creaci</a:t>
            </a:r>
            <a:r>
              <a:rPr lang="en-US" altLang="en-US" sz="1600" dirty="0"/>
              <a:t>ó</a:t>
            </a:r>
            <a:r>
              <a:rPr lang="en-US" altLang="es-ES" sz="1600" dirty="0"/>
              <a:t>n de aplicaciones con Mule Runtime Engine, principalmente dentro de Anypoint Studio, el IDE de MuleSoft basado en Eclipse.</a:t>
            </a:r>
            <a:endParaRPr lang="en-US" altLang="es-ES" sz="1600" dirty="0"/>
          </a:p>
          <a:p>
            <a:pPr algn="just"/>
            <a:r>
              <a:rPr lang="en-US" altLang="es-ES" sz="1600" dirty="0"/>
              <a:t>Cada aplicaci</a:t>
            </a:r>
            <a:r>
              <a:rPr lang="en-US" altLang="en-US" sz="1600" dirty="0"/>
              <a:t>ó</a:t>
            </a:r>
            <a:r>
              <a:rPr lang="en-US" altLang="es-ES" sz="1600" dirty="0"/>
              <a:t>n Mule est</a:t>
            </a:r>
            <a:r>
              <a:rPr lang="en-US" altLang="en-US" sz="1600" dirty="0"/>
              <a:t>á</a:t>
            </a:r>
            <a:r>
              <a:rPr lang="en-US" altLang="es-ES" sz="1600" dirty="0"/>
              <a:t> estructurada como un proyecto basado en Maven. Las carpetas y archivos clave incluyen:</a:t>
            </a:r>
            <a:endParaRPr lang="en-US" altLang="es-ES" sz="1600" dirty="0"/>
          </a:p>
        </p:txBody>
      </p:sp>
      <p:graphicFrame>
        <p:nvGraphicFramePr>
          <p:cNvPr id="8" name="Marcador de posición de contenido 7"/>
          <p:cNvGraphicFramePr>
            <a:graphicFrameLocks noGrp="1"/>
          </p:cNvGraphicFramePr>
          <p:nvPr>
            <p:ph sz="half" idx="2"/>
          </p:nvPr>
        </p:nvGraphicFramePr>
        <p:xfrm>
          <a:off x="2943225" y="2818765"/>
          <a:ext cx="5181600" cy="2743200"/>
        </p:xfrm>
        <a:graphic>
          <a:graphicData uri="http://schemas.openxmlformats.org/drawingml/2006/table">
            <a:tbl>
              <a:tblPr/>
              <a:tblGrid>
                <a:gridCol w="1616075"/>
                <a:gridCol w="3565525"/>
              </a:tblGrid>
              <a:tr h="274243">
                <a:tc>
                  <a:txBody>
                    <a:bodyPr/>
                    <a:p>
                      <a:pPr>
                        <a:buNone/>
                      </a:pPr>
                      <a:r>
                        <a:rPr lang="en-US" altLang="es-VE" sz="1200" b="1"/>
                        <a:t>Archivo / Carpeta</a:t>
                      </a:r>
                      <a:endParaRPr lang="en-US" altLang="es-VE"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VE" sz="1200" b="1" dirty="0"/>
                        <a:t>Prop</a:t>
                      </a:r>
                      <a:r>
                        <a:rPr lang="es-VE" altLang="en-US" sz="1200" b="1" dirty="0"/>
                        <a:t>ósito</a:t>
                      </a:r>
                      <a:endParaRPr lang="es-VE" altLang="en-US" sz="1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n-US" altLang="es-VE" sz="1200" b="0"/>
                        <a:t>pom.xml</a:t>
                      </a:r>
                      <a:endParaRPr lang="en-US" altLang="es-VE"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s-VE" altLang="en-US" sz="1200" b="0" dirty="0"/>
                        <a:t>Archivo de configuración de Maven.</a:t>
                      </a:r>
                      <a:endParaRPr lang="es-VE"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n-US" altLang="es-VE" sz="1200" b="0" dirty="0"/>
                        <a:t>src/main/mule</a:t>
                      </a:r>
                      <a:endParaRPr lang="en-US" altLang="es-VE"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s-VE" altLang="en-US" sz="1200" b="0" dirty="0"/>
                        <a:t>Contiene todos los archivos XML y configuración del flujo.</a:t>
                      </a:r>
                      <a:endParaRPr lang="es-VE"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n-US" altLang="es-VE" sz="1200" b="0"/>
                        <a:t>src/main/resource</a:t>
                      </a:r>
                      <a:endParaRPr lang="en-US" altLang="es-VE"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s-VE" altLang="en-US" sz="1200" b="0" dirty="0"/>
                        <a:t>Contiene archovos externos como .properties o archivos JSON.</a:t>
                      </a:r>
                      <a:endParaRPr lang="es-VE"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n-US" altLang="es-VE" sz="1200">
                          <a:sym typeface="+mn-ea"/>
                        </a:rPr>
                        <a:t>src/test</a:t>
                      </a:r>
                      <a:endParaRPr lang="es-VE" altLang="es-CO"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s-VE" altLang="en-US" sz="1200" b="0" dirty="0"/>
                        <a:t>Para pruebas unitarias y simulacros</a:t>
                      </a:r>
                      <a:endParaRPr lang="es-VE"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n-US" altLang="es-VE" sz="1200" b="0"/>
                        <a:t>mule-artifact.json</a:t>
                      </a:r>
                      <a:endParaRPr lang="en-US" altLang="es-VE"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s-VE" altLang="en-US" sz="1200" b="0" dirty="0"/>
                        <a:t>Descriptor de metadatos de la aplicación (p ej., versión de Mule requerida)</a:t>
                      </a:r>
                      <a:endParaRPr lang="es-VE"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a:t>
            </a:r>
            <a:r>
              <a:rPr lang="es-CO" sz="2400" dirty="0">
                <a:sym typeface="+mn-ea"/>
              </a:rPr>
              <a:t>–</a:t>
            </a:r>
            <a:r>
              <a:rPr lang="es-VE" altLang="es-CO" sz="2400" dirty="0">
                <a:sym typeface="+mn-ea"/>
              </a:rPr>
              <a:t> Construyendo Aplicaciones </a:t>
            </a:r>
            <a:r>
              <a:rPr lang="es-CO" sz="2400" dirty="0">
                <a:sym typeface="+mn-ea"/>
              </a:rPr>
              <a:t>–</a:t>
            </a:r>
            <a:r>
              <a:rPr lang="es-VE" altLang="es-CO" sz="2400" dirty="0">
                <a:sym typeface="+mn-ea"/>
              </a:rPr>
              <a:t> Entendiendo Flujos en Mule</a:t>
            </a:r>
            <a:endParaRPr lang="es-VE" altLang="es-CO" sz="2400" dirty="0">
              <a:sym typeface="+mn-ea"/>
            </a:endParaRPr>
          </a:p>
        </p:txBody>
      </p:sp>
      <p:sp>
        <p:nvSpPr>
          <p:cNvPr id="5" name="Marcador de contenido 4"/>
          <p:cNvSpPr>
            <a:spLocks noGrp="1"/>
          </p:cNvSpPr>
          <p:nvPr>
            <p:ph idx="1"/>
          </p:nvPr>
        </p:nvSpPr>
        <p:spPr>
          <a:xfrm>
            <a:off x="709930" y="1343025"/>
            <a:ext cx="10434955" cy="4787900"/>
          </a:xfrm>
        </p:spPr>
        <p:txBody>
          <a:bodyPr>
            <a:noAutofit/>
          </a:bodyPr>
          <a:lstStyle/>
          <a:p>
            <a:pPr algn="just"/>
            <a:r>
              <a:rPr lang="en-US" altLang="es-ES" sz="1600" dirty="0"/>
              <a:t>Un flujo es el componente b</a:t>
            </a:r>
            <a:r>
              <a:rPr lang="en-US" altLang="en-US" sz="1600" dirty="0"/>
              <a:t>á</a:t>
            </a:r>
            <a:r>
              <a:rPr lang="en-US" altLang="es-ES" sz="1600" dirty="0"/>
              <a:t>sico de las aplicaciones Mule.</a:t>
            </a:r>
            <a:endParaRPr lang="en-US" altLang="es-ES" sz="1600" dirty="0"/>
          </a:p>
          <a:p>
            <a:pPr algn="just"/>
            <a:r>
              <a:rPr lang="en-US" altLang="es-ES" sz="1600" dirty="0"/>
              <a:t>Define una secuencia de pasos para procesar los datos entrantes</a:t>
            </a:r>
            <a:r>
              <a:rPr lang="es-VE" altLang="en-US" sz="1600" dirty="0"/>
              <a:t>.</a:t>
            </a:r>
            <a:endParaRPr lang="es-VE" altLang="en-US" sz="1600" dirty="0"/>
          </a:p>
          <a:p>
            <a:pPr algn="just"/>
            <a:r>
              <a:rPr lang="en-US" altLang="es-ES" sz="1600" dirty="0"/>
              <a:t>Existen tres tipos de flujos:</a:t>
            </a:r>
            <a:endParaRPr lang="en-US" altLang="es-ES" sz="1600" dirty="0"/>
          </a:p>
          <a:p>
            <a:pPr lvl="1" algn="just"/>
            <a:r>
              <a:rPr lang="es-VE" altLang="en-US" sz="1600" dirty="0"/>
              <a:t>Flujo Principal (Main Flow)</a:t>
            </a:r>
            <a:endParaRPr lang="es-VE" altLang="en-US" sz="1600" dirty="0"/>
          </a:p>
          <a:p>
            <a:pPr lvl="2" algn="just"/>
            <a:r>
              <a:rPr lang="en-US" altLang="es-ES" sz="1600" dirty="0"/>
              <a:t>Contiene una fuente de eventos (p. ej., un receptor HTTP).</a:t>
            </a:r>
            <a:endParaRPr lang="en-US" altLang="es-ES" sz="1600" dirty="0"/>
          </a:p>
          <a:p>
            <a:pPr lvl="2" algn="just"/>
            <a:r>
              <a:rPr lang="en-US" altLang="es-ES" sz="1600" dirty="0"/>
              <a:t>Ejecuta una serie de procesadores en orden.</a:t>
            </a:r>
            <a:endParaRPr lang="en-US" altLang="es-ES" sz="1600" dirty="0"/>
          </a:p>
          <a:p>
            <a:pPr lvl="2" algn="just"/>
            <a:r>
              <a:rPr lang="en-US" altLang="es-ES" sz="1600" dirty="0"/>
              <a:t>Incluye gesti</a:t>
            </a:r>
            <a:r>
              <a:rPr lang="en-US" altLang="en-US" sz="1600" dirty="0"/>
              <a:t>ó</a:t>
            </a:r>
            <a:r>
              <a:rPr lang="en-US" altLang="es-ES" sz="1600" dirty="0"/>
              <a:t>n de errores opcional.</a:t>
            </a:r>
            <a:endParaRPr lang="en-US" altLang="es-ES" sz="1600" dirty="0"/>
          </a:p>
          <a:p>
            <a:pPr lvl="1" algn="just"/>
            <a:r>
              <a:rPr lang="es-VE" altLang="en-US" sz="1600" dirty="0"/>
              <a:t>Flujo Privado (Private Flow):</a:t>
            </a:r>
            <a:endParaRPr lang="es-VE" altLang="en-US" sz="1600" dirty="0"/>
          </a:p>
          <a:p>
            <a:pPr lvl="2" algn="just"/>
            <a:r>
              <a:rPr lang="es-VE" altLang="en-US" sz="1600" dirty="0"/>
              <a:t>Similar a un flujo principal, pero sin la fuente de eventos.</a:t>
            </a:r>
            <a:endParaRPr lang="es-VE" altLang="en-US" sz="1600" dirty="0"/>
          </a:p>
          <a:p>
            <a:pPr lvl="2" algn="just"/>
            <a:r>
              <a:rPr lang="es-VE" altLang="en-US" sz="1600" dirty="0"/>
              <a:t>Se puede invocar mediante la referencia de flujo (Flow Reference)</a:t>
            </a:r>
            <a:endParaRPr lang="es-VE" altLang="en-US" sz="1600" dirty="0"/>
          </a:p>
          <a:p>
            <a:pPr lvl="2" algn="just"/>
            <a:r>
              <a:rPr lang="es-VE" altLang="en-US" sz="1600" dirty="0"/>
              <a:t>Útil para dividir la lógica en partes reutilizables y modulares.</a:t>
            </a:r>
            <a:endParaRPr lang="es-VE" altLang="en-US" sz="1600" dirty="0"/>
          </a:p>
          <a:p>
            <a:pPr lvl="1" algn="just"/>
            <a:r>
              <a:rPr lang="es-VE" altLang="en-US" sz="1600" dirty="0"/>
              <a:t>Subflujo (Sub Flow)</a:t>
            </a:r>
            <a:endParaRPr lang="es-VE" altLang="en-US" sz="1600" dirty="0"/>
          </a:p>
          <a:p>
            <a:pPr lvl="2" algn="just"/>
            <a:r>
              <a:rPr lang="es-VE" altLang="en-US" sz="1600" dirty="0"/>
              <a:t>Un flujo ligero sin fuente ni gestión de errores.</a:t>
            </a:r>
            <a:endParaRPr lang="es-VE" altLang="en-US" sz="1600" dirty="0"/>
          </a:p>
          <a:p>
            <a:pPr lvl="2" algn="just"/>
            <a:r>
              <a:rPr lang="es-VE" altLang="en-US" sz="1600" dirty="0"/>
              <a:t>Comparte el mismo hilo que el flujo que lo llama.</a:t>
            </a:r>
            <a:endParaRPr lang="es-VE" altLang="en-US" sz="1600" dirty="0"/>
          </a:p>
          <a:p>
            <a:pPr lvl="2" algn="just"/>
            <a:r>
              <a:rPr lang="es-VE" altLang="en-US" sz="1600" dirty="0"/>
              <a:t>Se suele utilizar para tareas pequeñas y reutilizables.</a:t>
            </a:r>
            <a:endParaRPr lang="es-VE" altLang="en-US" sz="1130" dirty="0"/>
          </a:p>
          <a:p>
            <a:pPr lvl="1" algn="just"/>
            <a:endParaRPr lang="es-VE" altLang="en-US" sz="13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a:t>
            </a:r>
            <a:r>
              <a:rPr lang="es-CO" sz="2400" dirty="0">
                <a:sym typeface="+mn-ea"/>
              </a:rPr>
              <a:t>–</a:t>
            </a:r>
            <a:r>
              <a:rPr lang="es-VE" altLang="es-CO" sz="2400" dirty="0">
                <a:sym typeface="+mn-ea"/>
              </a:rPr>
              <a:t> Construyendo Aplicaciones </a:t>
            </a:r>
            <a:r>
              <a:rPr lang="es-CO" sz="2400" dirty="0">
                <a:sym typeface="+mn-ea"/>
              </a:rPr>
              <a:t>–</a:t>
            </a:r>
            <a:r>
              <a:rPr lang="es-VE" altLang="es-CO" sz="2400" dirty="0">
                <a:sym typeface="+mn-ea"/>
              </a:rPr>
              <a:t> Trabajando con Dataweave</a:t>
            </a:r>
            <a:endParaRPr lang="es-VE" altLang="es-CO" sz="2400" dirty="0">
              <a:sym typeface="+mn-ea"/>
            </a:endParaRPr>
          </a:p>
        </p:txBody>
      </p:sp>
      <p:sp>
        <p:nvSpPr>
          <p:cNvPr id="5" name="Marcador de contenido 4"/>
          <p:cNvSpPr>
            <a:spLocks noGrp="1"/>
          </p:cNvSpPr>
          <p:nvPr>
            <p:ph idx="1"/>
          </p:nvPr>
        </p:nvSpPr>
        <p:spPr>
          <a:xfrm>
            <a:off x="709930" y="1343025"/>
            <a:ext cx="10434955" cy="1457960"/>
          </a:xfrm>
        </p:spPr>
        <p:txBody>
          <a:bodyPr>
            <a:noAutofit/>
          </a:bodyPr>
          <a:lstStyle/>
          <a:p>
            <a:pPr algn="just"/>
            <a:r>
              <a:rPr lang="en-US" altLang="es-ES" sz="1600" dirty="0"/>
              <a:t>DataWeave es el potente lenguaje de transformaci</a:t>
            </a:r>
            <a:r>
              <a:rPr lang="en-US" altLang="en-US" sz="1600" dirty="0"/>
              <a:t>ó</a:t>
            </a:r>
            <a:r>
              <a:rPr lang="en-US" altLang="es-ES" sz="1600" dirty="0"/>
              <a:t>n de datos de MuleSoft.</a:t>
            </a:r>
            <a:endParaRPr lang="en-US" altLang="es-ES" sz="1600" dirty="0"/>
          </a:p>
          <a:p>
            <a:pPr algn="just"/>
            <a:r>
              <a:rPr lang="es-VE" altLang="en-US" sz="1600" dirty="0"/>
              <a:t> </a:t>
            </a:r>
            <a:r>
              <a:rPr lang="en-US" altLang="es-ES" sz="1600" dirty="0"/>
              <a:t>Desempe</a:t>
            </a:r>
            <a:r>
              <a:rPr lang="en-US" altLang="en-US" sz="1600" dirty="0"/>
              <a:t>ñ</a:t>
            </a:r>
            <a:r>
              <a:rPr lang="en-US" altLang="es-ES" sz="1600" dirty="0"/>
              <a:t>a un papel fundamental en los proyectos de integraci</a:t>
            </a:r>
            <a:r>
              <a:rPr lang="en-US" altLang="en-US" sz="1600" dirty="0"/>
              <a:t>ó</a:t>
            </a:r>
            <a:r>
              <a:rPr lang="en-US" altLang="es-ES" sz="1600" dirty="0"/>
              <a:t>n, ya que permite a los desarrolladores transformar, filtrar y enriquecer datos entre diferentes formatos, como JSON, XML, CSV y m</a:t>
            </a:r>
            <a:r>
              <a:rPr lang="en-US" altLang="en-US" sz="1600" dirty="0"/>
              <a:t>á</a:t>
            </a:r>
            <a:r>
              <a:rPr lang="en-US" altLang="es-ES" sz="1600" dirty="0"/>
              <a:t>s.</a:t>
            </a:r>
            <a:endParaRPr lang="en-US" altLang="es-ES" sz="1600" dirty="0"/>
          </a:p>
          <a:p>
            <a:pPr algn="just"/>
            <a:r>
              <a:rPr lang="en-US" altLang="es-ES" sz="1600" dirty="0"/>
              <a:t>Los scripts de DataWeave comienzan con un encabezado seguido de una expresi</a:t>
            </a:r>
            <a:r>
              <a:rPr lang="en-US" altLang="en-US" sz="1600" dirty="0"/>
              <a:t>ó</a:t>
            </a:r>
            <a:r>
              <a:rPr lang="en-US" altLang="es-ES" sz="1600" dirty="0"/>
              <a:t>n de cuerpo.</a:t>
            </a:r>
            <a:endParaRPr lang="en-US" altLang="es-ES" sz="1600" dirty="0"/>
          </a:p>
        </p:txBody>
      </p:sp>
      <p:graphicFrame>
        <p:nvGraphicFramePr>
          <p:cNvPr id="8" name="Marcador de posición de contenido 7"/>
          <p:cNvGraphicFramePr>
            <a:graphicFrameLocks noGrp="1"/>
          </p:cNvGraphicFramePr>
          <p:nvPr>
            <p:ph sz="half" idx="2"/>
          </p:nvPr>
        </p:nvGraphicFramePr>
        <p:xfrm>
          <a:off x="2764155" y="3260725"/>
          <a:ext cx="5181600" cy="2103120"/>
        </p:xfrm>
        <a:graphic>
          <a:graphicData uri="http://schemas.openxmlformats.org/drawingml/2006/table">
            <a:tbl>
              <a:tblPr/>
              <a:tblGrid>
                <a:gridCol w="1616075"/>
                <a:gridCol w="3565525"/>
              </a:tblGrid>
              <a:tr h="274243">
                <a:tc>
                  <a:txBody>
                    <a:bodyPr/>
                    <a:p>
                      <a:pPr>
                        <a:buNone/>
                      </a:pPr>
                      <a:r>
                        <a:rPr lang="es-VE" altLang="en-US" sz="1200" b="1"/>
                        <a:t>Elemento</a:t>
                      </a:r>
                      <a:endParaRPr lang="es-VE" altLang="en-US"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s-VE" sz="1200" b="1" dirty="0"/>
                        <a:t>Descripción</a:t>
                      </a:r>
                      <a:endParaRPr lang="es-VE" sz="1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n-US" sz="1200" b="0"/>
                        <a:t>%dw 2.0</a:t>
                      </a:r>
                      <a:endParaRPr lang="es-VE" altLang="en-US"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Especifica la versi</a:t>
                      </a:r>
                      <a:r>
                        <a:rPr lang="en-US" altLang="en-US" sz="1200" b="0" dirty="0"/>
                        <a:t>ó</a:t>
                      </a:r>
                      <a:r>
                        <a:rPr lang="en-US" altLang="es-ES" sz="1200" b="0" dirty="0"/>
                        <a:t>n de DataWeave</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n-US" sz="1200" b="0" dirty="0"/>
                        <a:t>output</a:t>
                      </a:r>
                      <a:endParaRPr lang="es-VE"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Define el tipo MIME de salida (p. ej., JSON, XML, CSV)</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n-US" sz="1200" b="0"/>
                        <a:t>---</a:t>
                      </a:r>
                      <a:endParaRPr lang="es-VE" altLang="en-US"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Separador entre el encabezado y el cuerpo</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2400" dirty="0" err="1">
                <a:sym typeface="+mn-ea"/>
              </a:rPr>
              <a:t>MuleSoft</a:t>
            </a:r>
            <a:r>
              <a:rPr lang="es-CO" sz="2400" dirty="0">
                <a:sym typeface="+mn-ea"/>
              </a:rPr>
              <a:t> </a:t>
            </a:r>
            <a:r>
              <a:rPr lang="es-CO" sz="2400" dirty="0">
                <a:sym typeface="+mn-ea"/>
              </a:rPr>
              <a:t>–</a:t>
            </a:r>
            <a:r>
              <a:rPr lang="es-VE" altLang="es-CO" sz="2400" dirty="0">
                <a:sym typeface="+mn-ea"/>
              </a:rPr>
              <a:t> Construyendo Aplicaciones </a:t>
            </a:r>
            <a:r>
              <a:rPr lang="es-CO" sz="2400" dirty="0">
                <a:sym typeface="+mn-ea"/>
              </a:rPr>
              <a:t>–</a:t>
            </a:r>
            <a:r>
              <a:rPr lang="es-VE" altLang="es-CO" sz="2400" dirty="0">
                <a:sym typeface="+mn-ea"/>
              </a:rPr>
              <a:t> Trabajando con Dataweave</a:t>
            </a:r>
            <a:endParaRPr lang="es-VE" altLang="es-CO" sz="2400" dirty="0">
              <a:sym typeface="+mn-ea"/>
            </a:endParaRPr>
          </a:p>
        </p:txBody>
      </p:sp>
      <p:pic>
        <p:nvPicPr>
          <p:cNvPr id="10" name="Marcador de posición de contenido 9" descr="ice_screenshot_20250806-194422"/>
          <p:cNvPicPr>
            <a:picLocks noChangeAspect="1"/>
          </p:cNvPicPr>
          <p:nvPr>
            <p:ph idx="1"/>
          </p:nvPr>
        </p:nvPicPr>
        <p:blipFill>
          <a:blip r:embed="rId1"/>
          <a:srcRect t="806" b="-1830"/>
          <a:stretch>
            <a:fillRect/>
          </a:stretch>
        </p:blipFill>
        <p:spPr>
          <a:xfrm>
            <a:off x="2840355" y="1734820"/>
            <a:ext cx="5012055" cy="3699510"/>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a:t>
            </a:r>
            <a:r>
              <a:rPr lang="es-VE" altLang="es-CO" sz="2400" dirty="0">
                <a:sym typeface="+mn-ea"/>
              </a:rPr>
              <a:t> Construyendo Aplicaciones </a:t>
            </a:r>
            <a:r>
              <a:rPr lang="es-CO" sz="2400" dirty="0">
                <a:sym typeface="+mn-ea"/>
              </a:rPr>
              <a:t>–</a:t>
            </a:r>
            <a:r>
              <a:rPr lang="es-VE" altLang="es-CO" sz="2400" dirty="0">
                <a:sym typeface="+mn-ea"/>
              </a:rPr>
              <a:t> Manejo de Errores</a:t>
            </a:r>
            <a:endParaRPr lang="es-VE" altLang="es-CO" sz="2400" dirty="0">
              <a:sym typeface="+mn-ea"/>
            </a:endParaRPr>
          </a:p>
        </p:txBody>
      </p:sp>
      <p:sp>
        <p:nvSpPr>
          <p:cNvPr id="5" name="Marcador de contenido 4"/>
          <p:cNvSpPr>
            <a:spLocks noGrp="1"/>
          </p:cNvSpPr>
          <p:nvPr>
            <p:ph idx="1"/>
          </p:nvPr>
        </p:nvSpPr>
        <p:spPr>
          <a:xfrm>
            <a:off x="709930" y="1343025"/>
            <a:ext cx="10434955" cy="872490"/>
          </a:xfrm>
        </p:spPr>
        <p:txBody>
          <a:bodyPr>
            <a:noAutofit/>
          </a:bodyPr>
          <a:lstStyle/>
          <a:p>
            <a:pPr algn="just"/>
            <a:r>
              <a:rPr lang="es-VE" altLang="en-US" sz="1600" dirty="0"/>
              <a:t>El objeto error:</a:t>
            </a:r>
            <a:endParaRPr lang="es-VE" altLang="en-US" sz="1600" dirty="0"/>
          </a:p>
        </p:txBody>
      </p:sp>
      <p:graphicFrame>
        <p:nvGraphicFramePr>
          <p:cNvPr id="8" name="Marcador de posición de contenido 7"/>
          <p:cNvGraphicFramePr>
            <a:graphicFrameLocks noGrp="1"/>
          </p:cNvGraphicFramePr>
          <p:nvPr>
            <p:ph sz="half" idx="2"/>
          </p:nvPr>
        </p:nvGraphicFramePr>
        <p:xfrm>
          <a:off x="2943225" y="2818765"/>
          <a:ext cx="5181600" cy="2743200"/>
        </p:xfrm>
        <a:graphic>
          <a:graphicData uri="http://schemas.openxmlformats.org/drawingml/2006/table">
            <a:tbl>
              <a:tblPr/>
              <a:tblGrid>
                <a:gridCol w="1616075"/>
                <a:gridCol w="3565525"/>
              </a:tblGrid>
              <a:tr h="274320">
                <a:tc>
                  <a:txBody>
                    <a:bodyPr/>
                    <a:p>
                      <a:pPr>
                        <a:buNone/>
                      </a:pPr>
                      <a:r>
                        <a:rPr lang="es-VE" altLang="en-US" sz="1200" b="1"/>
                        <a:t>Campo</a:t>
                      </a:r>
                      <a:endParaRPr lang="en-US" altLang="es-VE"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s-VE" sz="1200" b="1" dirty="0"/>
                        <a:t>Descripción</a:t>
                      </a:r>
                      <a:endParaRPr lang="es-VE" sz="1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n-US" sz="1200" b="0"/>
                        <a:t>error.message</a:t>
                      </a:r>
                      <a:endParaRPr lang="es-VE" altLang="en-US"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Cadena del mensaje de error</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n-US" sz="1200" b="0" dirty="0"/>
                        <a:t>error.type</a:t>
                      </a:r>
                      <a:endParaRPr lang="es-VE"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Tipo de error con espacio de nombres (p. ej., HTTP:NOT_FOUND)</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n-US" sz="1200" b="0"/>
                        <a:t>error.cause</a:t>
                      </a:r>
                      <a:endParaRPr lang="es-VE" altLang="en-US" sz="12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Mensaje de excepci</a:t>
                      </a:r>
                      <a:r>
                        <a:rPr lang="en-US" altLang="en-US" sz="1200" b="0" dirty="0"/>
                        <a:t>ó</a:t>
                      </a:r>
                      <a:r>
                        <a:rPr lang="en-US" altLang="es-ES" sz="1200" b="0" dirty="0"/>
                        <a:t>n de Java (si corresponde)</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071">
                <a:tc>
                  <a:txBody>
                    <a:bodyPr/>
                    <a:p>
                      <a:pPr>
                        <a:buNone/>
                      </a:pPr>
                      <a:r>
                        <a:rPr lang="es-VE" altLang="en-US" sz="1200">
                          <a:sym typeface="+mn-ea"/>
                        </a:rPr>
                        <a:t>error.stackTrace</a:t>
                      </a:r>
                      <a:endParaRPr lang="es-VE" altLang="en-US" sz="1200" b="0">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s-ES" sz="1200" b="0" dirty="0"/>
                        <a:t>Rastreo t</a:t>
                      </a:r>
                      <a:r>
                        <a:rPr lang="en-US" altLang="en-US" sz="1200" b="0" dirty="0"/>
                        <a:t>é</a:t>
                      </a:r>
                      <a:r>
                        <a:rPr lang="en-US" altLang="es-ES" sz="1200" b="0" dirty="0"/>
                        <a:t>cnico completo (para depuraci</a:t>
                      </a:r>
                      <a:r>
                        <a:rPr lang="en-US" altLang="en-US" sz="1200" b="0" dirty="0"/>
                        <a:t>ó</a:t>
                      </a:r>
                      <a:r>
                        <a:rPr lang="en-US" altLang="es-ES" sz="1200" b="0" dirty="0"/>
                        <a:t>n exhaustiva)</a:t>
                      </a:r>
                      <a:endParaRPr lang="en-US" altLang="es-E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a:t>
            </a:r>
            <a:r>
              <a:rPr lang="es-VE" altLang="es-CO" sz="2400" dirty="0">
                <a:sym typeface="+mn-ea"/>
              </a:rPr>
              <a:t> Construyendo Aplicaciones </a:t>
            </a:r>
            <a:r>
              <a:rPr lang="es-CO" sz="2400" dirty="0">
                <a:sym typeface="+mn-ea"/>
              </a:rPr>
              <a:t>–</a:t>
            </a:r>
            <a:r>
              <a:rPr lang="es-VE" altLang="es-CO" sz="2400" dirty="0">
                <a:sym typeface="+mn-ea"/>
              </a:rPr>
              <a:t> Manejo de Errores</a:t>
            </a:r>
            <a:endParaRPr lang="es-VE" altLang="es-CO" sz="2400" dirty="0">
              <a:sym typeface="+mn-ea"/>
            </a:endParaRPr>
          </a:p>
        </p:txBody>
      </p:sp>
      <p:sp>
        <p:nvSpPr>
          <p:cNvPr id="5" name="Marcador de contenido 4"/>
          <p:cNvSpPr>
            <a:spLocks noGrp="1"/>
          </p:cNvSpPr>
          <p:nvPr>
            <p:ph idx="1"/>
          </p:nvPr>
        </p:nvSpPr>
        <p:spPr>
          <a:xfrm>
            <a:off x="709930" y="1343025"/>
            <a:ext cx="10434955" cy="3222625"/>
          </a:xfrm>
        </p:spPr>
        <p:txBody>
          <a:bodyPr>
            <a:noAutofit/>
          </a:bodyPr>
          <a:lstStyle/>
          <a:p>
            <a:pPr algn="just"/>
            <a:r>
              <a:rPr lang="en-US" altLang="es-ES" sz="1600" dirty="0"/>
              <a:t>Error Handling Scopes</a:t>
            </a:r>
            <a:r>
              <a:rPr lang="es-VE" altLang="en-US" sz="1600" dirty="0"/>
              <a:t>:</a:t>
            </a:r>
            <a:endParaRPr lang="es-VE" altLang="en-US" sz="1600" dirty="0"/>
          </a:p>
          <a:p>
            <a:pPr lvl="1" algn="just"/>
            <a:r>
              <a:rPr lang="en-US" altLang="es-ES" sz="1370" dirty="0"/>
              <a:t>Encapsula un bloque de l</a:t>
            </a:r>
            <a:r>
              <a:rPr lang="en-US" altLang="en-US" sz="1370" dirty="0"/>
              <a:t>ó</a:t>
            </a:r>
            <a:r>
              <a:rPr lang="en-US" altLang="es-ES" sz="1370" dirty="0"/>
              <a:t>gica donde pueden producirse errores.</a:t>
            </a:r>
            <a:endParaRPr lang="en-US" altLang="es-ES" sz="1370" dirty="0"/>
          </a:p>
          <a:p>
            <a:pPr lvl="1" algn="just"/>
            <a:r>
              <a:rPr lang="en-US" altLang="es-ES" sz="1370" dirty="0"/>
              <a:t>Funciona como un try-catch en lenguajes de programaci</a:t>
            </a:r>
            <a:r>
              <a:rPr lang="en-US" altLang="en-US" sz="1370" dirty="0"/>
              <a:t>ó</a:t>
            </a:r>
            <a:r>
              <a:rPr lang="en-US" altLang="es-ES" sz="1370" dirty="0"/>
              <a:t>n.</a:t>
            </a:r>
            <a:endParaRPr lang="en-US" altLang="es-ES" sz="1370" dirty="0"/>
          </a:p>
          <a:p>
            <a:pPr lvl="0" algn="just"/>
            <a:r>
              <a:rPr lang="en-US" altLang="es-ES" sz="1595" dirty="0"/>
              <a:t>On Error Continue</a:t>
            </a:r>
            <a:r>
              <a:rPr lang="es-VE" altLang="en-US" sz="1595" dirty="0"/>
              <a:t>:</a:t>
            </a:r>
            <a:endParaRPr lang="es-VE" altLang="en-US" sz="1595" dirty="0"/>
          </a:p>
          <a:p>
            <a:pPr lvl="1" algn="just"/>
            <a:r>
              <a:rPr lang="en-US" altLang="es-ES" sz="1365" dirty="0"/>
              <a:t>Gestiona el error y permite que la ejecuci</a:t>
            </a:r>
            <a:r>
              <a:rPr lang="en-US" altLang="en-US" sz="1365" dirty="0"/>
              <a:t>ó</a:t>
            </a:r>
            <a:r>
              <a:rPr lang="en-US" altLang="es-ES" sz="1365" dirty="0"/>
              <a:t>n del flujo contin</a:t>
            </a:r>
            <a:r>
              <a:rPr lang="en-US" altLang="en-US" sz="1365" dirty="0"/>
              <a:t>ú</a:t>
            </a:r>
            <a:r>
              <a:rPr lang="en-US" altLang="es-ES" sz="1365" dirty="0"/>
              <a:t>e.</a:t>
            </a:r>
            <a:endParaRPr lang="en-US" altLang="es-ES" sz="1365" dirty="0"/>
          </a:p>
          <a:p>
            <a:pPr lvl="1" algn="just"/>
            <a:r>
              <a:rPr lang="en-US" altLang="es-ES" sz="1365" dirty="0"/>
              <a:t>Se utiliza a menudo cuando se desea devolver una respuesta de respaldo o predeterminada.</a:t>
            </a:r>
            <a:endParaRPr lang="en-US" altLang="es-ES" sz="1365" dirty="0"/>
          </a:p>
          <a:p>
            <a:pPr lvl="0" algn="just"/>
            <a:r>
              <a:rPr lang="en-US" altLang="es-ES" sz="1590" dirty="0"/>
              <a:t>On Error Propagate</a:t>
            </a:r>
            <a:r>
              <a:rPr lang="es-VE" altLang="en-US" sz="1590" dirty="0"/>
              <a:t>:</a:t>
            </a:r>
            <a:endParaRPr lang="es-VE" altLang="en-US" sz="1590" dirty="0"/>
          </a:p>
          <a:p>
            <a:pPr lvl="1" algn="just"/>
            <a:r>
              <a:rPr lang="en-US" altLang="es-ES" sz="1360" dirty="0"/>
              <a:t>Maneja el error y lo reenv</a:t>
            </a:r>
            <a:r>
              <a:rPr lang="en-US" altLang="en-US" sz="1360" dirty="0"/>
              <a:t>í</a:t>
            </a:r>
            <a:r>
              <a:rPr lang="en-US" altLang="es-ES" sz="1360" dirty="0"/>
              <a:t>a a la cadena. </a:t>
            </a:r>
            <a:r>
              <a:rPr lang="" altLang="en-US" sz="1360" dirty="0"/>
              <a:t>Ú</a:t>
            </a:r>
            <a:r>
              <a:rPr lang="en-US" altLang="es-ES" sz="1360" dirty="0"/>
              <a:t>til</a:t>
            </a:r>
            <a:endParaRPr lang="en-US" altLang="es-ES" sz="1360" dirty="0"/>
          </a:p>
          <a:p>
            <a:pPr lvl="1" algn="just"/>
            <a:r>
              <a:rPr lang="en-US" altLang="es-ES" sz="1360" dirty="0"/>
              <a:t>cuando se desea detener la ejecuci</a:t>
            </a:r>
            <a:r>
              <a:rPr lang="en-US" altLang="en-US" sz="1360" dirty="0"/>
              <a:t>ó</a:t>
            </a:r>
            <a:r>
              <a:rPr lang="en-US" altLang="es-ES" sz="1360" dirty="0"/>
              <a:t>n y devolver una respuesta de error al cliente.</a:t>
            </a:r>
            <a:endParaRPr lang="en-US" altLang="es-ES" sz="13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a:t>
            </a:r>
            <a:r>
              <a:rPr lang="es-VE" altLang="es-CO" sz="2400" dirty="0">
                <a:sym typeface="+mn-ea"/>
              </a:rPr>
              <a:t> Construyendo Aplicaciones </a:t>
            </a:r>
            <a:r>
              <a:rPr lang="es-CO" sz="2400" dirty="0">
                <a:sym typeface="+mn-ea"/>
              </a:rPr>
              <a:t>–</a:t>
            </a:r>
            <a:r>
              <a:rPr lang="es-VE" altLang="es-CO" sz="2400" dirty="0">
                <a:sym typeface="+mn-ea"/>
              </a:rPr>
              <a:t> </a:t>
            </a:r>
            <a:r>
              <a:rPr lang="en-US" altLang="es-ES" sz="2400" dirty="0">
                <a:sym typeface="+mn-ea"/>
              </a:rPr>
              <a:t>Global vs Local Error Handling</a:t>
            </a:r>
            <a:endParaRPr lang="en-US" altLang="es-ES" sz="2400" dirty="0">
              <a:sym typeface="+mn-ea"/>
            </a:endParaRPr>
          </a:p>
        </p:txBody>
      </p:sp>
      <p:sp>
        <p:nvSpPr>
          <p:cNvPr id="5" name="Marcador de contenido 4"/>
          <p:cNvSpPr>
            <a:spLocks noGrp="1"/>
          </p:cNvSpPr>
          <p:nvPr>
            <p:ph idx="1"/>
          </p:nvPr>
        </p:nvSpPr>
        <p:spPr>
          <a:xfrm>
            <a:off x="709930" y="1343025"/>
            <a:ext cx="10434955" cy="3222625"/>
          </a:xfrm>
        </p:spPr>
        <p:txBody>
          <a:bodyPr>
            <a:noAutofit/>
          </a:bodyPr>
          <a:lstStyle/>
          <a:p>
            <a:pPr algn="just"/>
            <a:r>
              <a:rPr lang="en-US" altLang="es-ES" sz="1600" dirty="0"/>
              <a:t>Manejador de errores local: Se ubica dentro de un </a:t>
            </a:r>
            <a:r>
              <a:rPr lang="en-US" altLang="en-US" sz="1600" dirty="0"/>
              <a:t>á</a:t>
            </a:r>
            <a:r>
              <a:rPr lang="en-US" altLang="es-ES" sz="1600" dirty="0"/>
              <a:t>mbito o flujo Try.</a:t>
            </a:r>
            <a:endParaRPr lang="en-US" altLang="es-ES" sz="1600" dirty="0"/>
          </a:p>
          <a:p>
            <a:pPr algn="just"/>
            <a:endParaRPr lang="en-US" altLang="es-ES" sz="1600" dirty="0"/>
          </a:p>
          <a:p>
            <a:pPr algn="just"/>
            <a:r>
              <a:rPr lang="en-US" altLang="es-ES" sz="1600" dirty="0"/>
              <a:t>Manejador de errores global: Se define en la configuraci</a:t>
            </a:r>
            <a:r>
              <a:rPr lang="en-US" altLang="en-US" sz="1600" dirty="0"/>
              <a:t>ó</a:t>
            </a:r>
            <a:r>
              <a:rPr lang="en-US" altLang="es-ES" sz="1600" dirty="0"/>
              <a:t>n global de la aplicaci</a:t>
            </a:r>
            <a:r>
              <a:rPr lang="en-US" altLang="en-US" sz="1600" dirty="0"/>
              <a:t>ó</a:t>
            </a:r>
            <a:r>
              <a:rPr lang="en-US" altLang="es-ES" sz="1600" dirty="0"/>
              <a:t>n y se aplica a todos los flujos que no tienen manejadores locales.</a:t>
            </a:r>
            <a:endParaRPr lang="en-US" altLang="es-E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4000" dirty="0" err="1"/>
              <a:t>MuleSoft</a:t>
            </a:r>
            <a:r>
              <a:rPr lang="es-CO" sz="4000" dirty="0"/>
              <a:t> –</a:t>
            </a:r>
            <a:r>
              <a:rPr lang="es-VE" altLang="es-CO" sz="4000" dirty="0"/>
              <a:t> Desplegando Aplicaciones </a:t>
            </a:r>
            <a:endParaRPr lang="es-VE" altLang="es-CO" sz="4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a:t>
            </a:r>
            <a:r>
              <a:rPr lang="es-VE" altLang="es-CO" sz="2400" dirty="0">
                <a:sym typeface="+mn-ea"/>
              </a:rPr>
              <a:t> </a:t>
            </a:r>
            <a:r>
              <a:rPr lang="es-VE" sz="2400" dirty="0">
                <a:sym typeface="+mn-ea"/>
              </a:rPr>
              <a:t>Desplegando Aplicaciones</a:t>
            </a:r>
            <a:endParaRPr lang="es-VE" sz="2400" dirty="0">
              <a:sym typeface="+mn-ea"/>
            </a:endParaRPr>
          </a:p>
        </p:txBody>
      </p:sp>
      <p:sp>
        <p:nvSpPr>
          <p:cNvPr id="5" name="Marcador de contenido 4"/>
          <p:cNvSpPr>
            <a:spLocks noGrp="1"/>
          </p:cNvSpPr>
          <p:nvPr>
            <p:ph idx="1"/>
          </p:nvPr>
        </p:nvSpPr>
        <p:spPr>
          <a:xfrm>
            <a:off x="709930" y="1343025"/>
            <a:ext cx="10434955" cy="3222625"/>
          </a:xfrm>
        </p:spPr>
        <p:txBody>
          <a:bodyPr>
            <a:noAutofit/>
          </a:bodyPr>
          <a:lstStyle/>
          <a:p>
            <a:pPr algn="just"/>
            <a:r>
              <a:rPr lang="en-US" altLang="es-ES" sz="1600" dirty="0"/>
              <a:t>Tras dise</a:t>
            </a:r>
            <a:r>
              <a:rPr lang="en-US" altLang="en-US" sz="1600" dirty="0"/>
              <a:t>ñ</a:t>
            </a:r>
            <a:r>
              <a:rPr lang="en-US" altLang="es-ES" sz="1600" dirty="0"/>
              <a:t>ar, desarrollar y probar las aplicaciones de Mule, la etapa final es la implementaci</a:t>
            </a:r>
            <a:r>
              <a:rPr lang="en-US" altLang="en-US" sz="1600" dirty="0"/>
              <a:t>ó</a:t>
            </a:r>
            <a:r>
              <a:rPr lang="en-US" altLang="es-ES" sz="1600" dirty="0"/>
              <a:t>n. </a:t>
            </a:r>
            <a:endParaRPr lang="en-US" altLang="es-ES" sz="1600" dirty="0"/>
          </a:p>
          <a:p>
            <a:pPr algn="just"/>
            <a:r>
              <a:rPr lang="en-US" altLang="es-ES" sz="1600" dirty="0"/>
              <a:t>MuleSoft admite varios modelos de implementaci</a:t>
            </a:r>
            <a:r>
              <a:rPr lang="en-US" altLang="en-US" sz="1600" dirty="0"/>
              <a:t>ó</a:t>
            </a:r>
            <a:r>
              <a:rPr lang="en-US" altLang="es-ES" sz="1600" dirty="0"/>
              <a:t>n seg</a:t>
            </a:r>
            <a:r>
              <a:rPr lang="en-US" altLang="en-US" sz="1600" dirty="0"/>
              <a:t>ú</a:t>
            </a:r>
            <a:r>
              <a:rPr lang="en-US" altLang="es-ES" sz="1600" dirty="0"/>
              <a:t>n el contexto empresarial. Este cap</a:t>
            </a:r>
            <a:r>
              <a:rPr lang="en-US" altLang="en-US" sz="1600" dirty="0"/>
              <a:t>í</a:t>
            </a:r>
            <a:r>
              <a:rPr lang="en-US" altLang="es-ES" sz="1600" dirty="0"/>
              <a:t>tulo describe las opciones de implementaci</a:t>
            </a:r>
            <a:r>
              <a:rPr lang="en-US" altLang="en-US" sz="1600" dirty="0"/>
              <a:t>ó</a:t>
            </a:r>
            <a:r>
              <a:rPr lang="en-US" altLang="es-ES" sz="1600" dirty="0"/>
              <a:t>n, las herramientas de gesti</a:t>
            </a:r>
            <a:r>
              <a:rPr lang="en-US" altLang="en-US" sz="1600" dirty="0"/>
              <a:t>ó</a:t>
            </a:r>
            <a:r>
              <a:rPr lang="en-US" altLang="es-ES" sz="1600" dirty="0"/>
              <a:t>n de aplicaciones y las funciones de monitorizaci</a:t>
            </a:r>
            <a:r>
              <a:rPr lang="en-US" altLang="en-US" sz="1600" dirty="0"/>
              <a:t>ó</a:t>
            </a:r>
            <a:r>
              <a:rPr lang="en-US" altLang="es-ES" sz="1600" dirty="0"/>
              <a:t>n disponibles a trav</a:t>
            </a:r>
            <a:r>
              <a:rPr lang="en-US" altLang="en-US" sz="1600" dirty="0"/>
              <a:t>é</a:t>
            </a:r>
            <a:r>
              <a:rPr lang="en-US" altLang="es-ES" sz="1600" dirty="0"/>
              <a:t>s de la plataforma Anypoint.</a:t>
            </a:r>
            <a:endParaRPr lang="en-US" altLang="es-ES" sz="1600" dirty="0"/>
          </a:p>
          <a:p>
            <a:pPr algn="just"/>
            <a:r>
              <a:rPr lang="en-US" altLang="es-ES" sz="1600" dirty="0"/>
              <a:t>Las aplicaciones Mule se pueden implementar en varios entornos</a:t>
            </a:r>
            <a:r>
              <a:rPr lang="es-VE" altLang="en-US" sz="1600" dirty="0"/>
              <a:t>: Cloudhub, On-Premises, Runtime Fabric</a:t>
            </a:r>
            <a:endParaRPr lang="es-VE" alt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a:t>
            </a:r>
            <a:r>
              <a:rPr lang="es-VE" altLang="es-CO" sz="2400" dirty="0">
                <a:sym typeface="+mn-ea"/>
              </a:rPr>
              <a:t> </a:t>
            </a:r>
            <a:r>
              <a:rPr lang="es-VE" sz="2400" dirty="0">
                <a:sym typeface="+mn-ea"/>
              </a:rPr>
              <a:t>Desplegando Aplicaciones </a:t>
            </a:r>
            <a:r>
              <a:rPr lang="es-CO" sz="2400" dirty="0">
                <a:sym typeface="+mn-ea"/>
              </a:rPr>
              <a:t>–</a:t>
            </a:r>
            <a:r>
              <a:rPr lang="es-VE" altLang="es-CO" sz="2400" dirty="0">
                <a:sym typeface="+mn-ea"/>
              </a:rPr>
              <a:t> </a:t>
            </a:r>
            <a:r>
              <a:rPr lang="en-US" altLang="es-ES" sz="2400" dirty="0">
                <a:sym typeface="+mn-ea"/>
              </a:rPr>
              <a:t>CloudHub</a:t>
            </a:r>
            <a:endParaRPr lang="en-US" altLang="es-ES" sz="2400" dirty="0">
              <a:sym typeface="+mn-ea"/>
            </a:endParaRPr>
          </a:p>
        </p:txBody>
      </p:sp>
      <p:sp>
        <p:nvSpPr>
          <p:cNvPr id="5" name="Marcador de contenido 4"/>
          <p:cNvSpPr>
            <a:spLocks noGrp="1"/>
          </p:cNvSpPr>
          <p:nvPr>
            <p:ph idx="1"/>
          </p:nvPr>
        </p:nvSpPr>
        <p:spPr>
          <a:xfrm>
            <a:off x="709930" y="1343025"/>
            <a:ext cx="10434955" cy="3222625"/>
          </a:xfrm>
        </p:spPr>
        <p:txBody>
          <a:bodyPr>
            <a:noAutofit/>
          </a:bodyPr>
          <a:lstStyle/>
          <a:p>
            <a:pPr algn="just"/>
            <a:r>
              <a:rPr lang="en-US" altLang="es-ES" sz="1600" dirty="0"/>
              <a:t>Tiempo de ejecuci</a:t>
            </a:r>
            <a:r>
              <a:rPr lang="en-US" altLang="en-US" sz="1600" dirty="0"/>
              <a:t>ó</a:t>
            </a:r>
            <a:r>
              <a:rPr lang="en-US" altLang="es-ES" sz="1600" dirty="0"/>
              <a:t>n totalmente gestionado en la nube.</a:t>
            </a:r>
            <a:endParaRPr lang="en-US" altLang="es-ES" sz="1600" dirty="0"/>
          </a:p>
          <a:p>
            <a:pPr algn="just"/>
            <a:r>
              <a:rPr lang="en-US" altLang="es-ES" sz="1600" dirty="0"/>
              <a:t>Sin mantenimiento de infraestructura.</a:t>
            </a:r>
            <a:endParaRPr lang="en-US" altLang="es-ES" sz="1600" dirty="0"/>
          </a:p>
          <a:p>
            <a:pPr algn="just"/>
            <a:r>
              <a:rPr lang="en-US" altLang="es-ES" sz="1600" dirty="0"/>
              <a:t>Compatible con escalado autom</a:t>
            </a:r>
            <a:r>
              <a:rPr lang="en-US" altLang="en-US" sz="1600" dirty="0"/>
              <a:t>á</a:t>
            </a:r>
            <a:r>
              <a:rPr lang="en-US" altLang="es-ES" sz="1600" dirty="0"/>
              <a:t>tico, alta disponibilidad y registro.</a:t>
            </a:r>
            <a:endParaRPr lang="en-US" altLang="es-ES" sz="1600" dirty="0"/>
          </a:p>
          <a:p>
            <a:pPr algn="just"/>
            <a:r>
              <a:rPr lang="en-US" altLang="es-ES" sz="1600" dirty="0"/>
              <a:t>Cada aplicaci</a:t>
            </a:r>
            <a:r>
              <a:rPr lang="en-US" altLang="en-US" sz="1600" dirty="0"/>
              <a:t>ó</a:t>
            </a:r>
            <a:r>
              <a:rPr lang="en-US" altLang="es-ES" sz="1600" dirty="0"/>
              <a:t>n se ejecuta en un trabajador aislado.</a:t>
            </a:r>
            <a:endParaRPr lang="en-US" altLang="es-ES" sz="1600" dirty="0"/>
          </a:p>
          <a:p>
            <a:pPr algn="just"/>
            <a:r>
              <a:rPr lang="en-US" altLang="es-ES" sz="1600" dirty="0"/>
              <a:t>Cu</a:t>
            </a:r>
            <a:r>
              <a:rPr lang="en-US" altLang="en-US" sz="1600" dirty="0"/>
              <a:t>á</a:t>
            </a:r>
            <a:r>
              <a:rPr lang="en-US" altLang="es-ES" sz="1600" dirty="0"/>
              <a:t>ndo usar: Para implementaciones r</a:t>
            </a:r>
            <a:r>
              <a:rPr lang="en-US" altLang="en-US" sz="1600" dirty="0"/>
              <a:t>á</a:t>
            </a:r>
            <a:r>
              <a:rPr lang="en-US" altLang="es-ES" sz="1600" dirty="0"/>
              <a:t>pidas de nivel de producci</a:t>
            </a:r>
            <a:r>
              <a:rPr lang="en-US" altLang="en-US" sz="1600" dirty="0"/>
              <a:t>ó</a:t>
            </a:r>
            <a:r>
              <a:rPr lang="en-US" altLang="es-ES" sz="1600" dirty="0"/>
              <a:t>n sin necesidad de configurar la infraestructura.</a:t>
            </a:r>
            <a:endParaRPr lang="en-US" altLang="es-E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a:t>
            </a:r>
            <a:r>
              <a:rPr lang="es-VE" altLang="es-CO" sz="2400" dirty="0">
                <a:sym typeface="+mn-ea"/>
              </a:rPr>
              <a:t> </a:t>
            </a:r>
            <a:r>
              <a:rPr lang="es-VE" sz="2400" dirty="0">
                <a:sym typeface="+mn-ea"/>
              </a:rPr>
              <a:t>Desplegando Aplicaciones </a:t>
            </a:r>
            <a:r>
              <a:rPr lang="es-CO" sz="2400" dirty="0">
                <a:sym typeface="+mn-ea"/>
              </a:rPr>
              <a:t>–</a:t>
            </a:r>
            <a:r>
              <a:rPr lang="es-VE" altLang="es-CO" sz="2400" dirty="0">
                <a:sym typeface="+mn-ea"/>
              </a:rPr>
              <a:t> </a:t>
            </a:r>
            <a:r>
              <a:rPr lang="en-US" altLang="es-ES" sz="2400" dirty="0">
                <a:sym typeface="+mn-ea"/>
              </a:rPr>
              <a:t>On-Premises</a:t>
            </a:r>
            <a:endParaRPr lang="en-US" altLang="es-ES" sz="2400" dirty="0">
              <a:sym typeface="+mn-ea"/>
            </a:endParaRPr>
          </a:p>
        </p:txBody>
      </p:sp>
      <p:sp>
        <p:nvSpPr>
          <p:cNvPr id="5" name="Marcador de contenido 4"/>
          <p:cNvSpPr>
            <a:spLocks noGrp="1"/>
          </p:cNvSpPr>
          <p:nvPr>
            <p:ph idx="1"/>
          </p:nvPr>
        </p:nvSpPr>
        <p:spPr>
          <a:xfrm>
            <a:off x="709930" y="1343025"/>
            <a:ext cx="10434955" cy="3222625"/>
          </a:xfrm>
        </p:spPr>
        <p:txBody>
          <a:bodyPr>
            <a:noAutofit/>
          </a:bodyPr>
          <a:lstStyle/>
          <a:p>
            <a:pPr algn="just"/>
            <a:r>
              <a:rPr lang="en-US" altLang="es-ES" sz="1600" dirty="0"/>
              <a:t>El entorno de ejecuci</a:t>
            </a:r>
            <a:r>
              <a:rPr lang="en-US" altLang="en-US" sz="1600" dirty="0"/>
              <a:t>ó</a:t>
            </a:r>
            <a:r>
              <a:rPr lang="en-US" altLang="es-ES" sz="1600" dirty="0"/>
              <a:t>n de Mule se instala y administra en servidores f</a:t>
            </a:r>
            <a:r>
              <a:rPr lang="en-US" altLang="en-US" sz="1600" dirty="0"/>
              <a:t>í</a:t>
            </a:r>
            <a:r>
              <a:rPr lang="en-US" altLang="es-ES" sz="1600" dirty="0"/>
              <a:t>sicos o virtuales.</a:t>
            </a:r>
            <a:endParaRPr lang="en-US" altLang="es-ES" sz="1600" dirty="0"/>
          </a:p>
          <a:p>
            <a:pPr algn="just"/>
            <a:r>
              <a:rPr lang="en-US" altLang="es-ES" sz="1600" dirty="0"/>
              <a:t>Control total sobre la red, el firewall y los recursos de hardware.</a:t>
            </a:r>
            <a:endParaRPr lang="en-US" altLang="es-ES" sz="1600" dirty="0"/>
          </a:p>
          <a:p>
            <a:pPr algn="just"/>
            <a:r>
              <a:rPr lang="en-US" altLang="es-ES" sz="1600" dirty="0"/>
              <a:t>Requiere instalaci</a:t>
            </a:r>
            <a:r>
              <a:rPr lang="en-US" altLang="en-US" sz="1600" dirty="0"/>
              <a:t>ó</a:t>
            </a:r>
            <a:r>
              <a:rPr lang="en-US" altLang="es-ES" sz="1600" dirty="0"/>
              <a:t>n y actualizaci</a:t>
            </a:r>
            <a:r>
              <a:rPr lang="en-US" altLang="en-US" sz="1600" dirty="0"/>
              <a:t>ó</a:t>
            </a:r>
            <a:r>
              <a:rPr lang="en-US" altLang="es-ES" sz="1600" dirty="0"/>
              <a:t>n manual.</a:t>
            </a:r>
            <a:endParaRPr lang="en-US" altLang="es-ES" sz="1600" dirty="0"/>
          </a:p>
          <a:p>
            <a:pPr algn="just"/>
            <a:r>
              <a:rPr lang="en-US" altLang="es-ES" sz="1600" dirty="0"/>
              <a:t>Cu</a:t>
            </a:r>
            <a:r>
              <a:rPr lang="en-US" altLang="en-US" sz="1600" dirty="0"/>
              <a:t>á</a:t>
            </a:r>
            <a:r>
              <a:rPr lang="en-US" altLang="es-ES" sz="1600" dirty="0"/>
              <a:t>ndo usarlo: Para sistemas con requisitos estrictos de seguridad, cumplimiento normativo o latencia.</a:t>
            </a:r>
            <a:endParaRPr lang="en-US" altLang="es-E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184" y="17654"/>
            <a:ext cx="10515600" cy="1325563"/>
          </a:xfrm>
        </p:spPr>
        <p:txBody>
          <a:bodyPr>
            <a:normAutofit/>
          </a:bodyPr>
          <a:lstStyle/>
          <a:p>
            <a:r>
              <a:rPr lang="es-CO" sz="2400" dirty="0" err="1">
                <a:sym typeface="+mn-ea"/>
              </a:rPr>
              <a:t>MuleSoft</a:t>
            </a:r>
            <a:r>
              <a:rPr lang="es-CO" sz="2400" dirty="0">
                <a:sym typeface="+mn-ea"/>
              </a:rPr>
              <a:t> –</a:t>
            </a:r>
            <a:r>
              <a:rPr lang="es-VE" altLang="es-CO" sz="2400" dirty="0">
                <a:sym typeface="+mn-ea"/>
              </a:rPr>
              <a:t> </a:t>
            </a:r>
            <a:r>
              <a:rPr lang="es-VE" sz="2400" dirty="0">
                <a:sym typeface="+mn-ea"/>
              </a:rPr>
              <a:t>Desplegando Aplicaciones </a:t>
            </a:r>
            <a:r>
              <a:rPr lang="es-CO" sz="2400" dirty="0">
                <a:sym typeface="+mn-ea"/>
              </a:rPr>
              <a:t>–</a:t>
            </a:r>
            <a:r>
              <a:rPr lang="es-VE" altLang="es-CO" sz="2400" dirty="0">
                <a:sym typeface="+mn-ea"/>
              </a:rPr>
              <a:t> </a:t>
            </a:r>
            <a:r>
              <a:rPr lang="en-US" altLang="es-ES" sz="2400" dirty="0">
                <a:sym typeface="+mn-ea"/>
              </a:rPr>
              <a:t>Runtime Fabric (Hybrid)</a:t>
            </a:r>
            <a:endParaRPr lang="en-US" altLang="es-ES" sz="2400" dirty="0">
              <a:sym typeface="+mn-ea"/>
            </a:endParaRPr>
          </a:p>
        </p:txBody>
      </p:sp>
      <p:sp>
        <p:nvSpPr>
          <p:cNvPr id="5" name="Marcador de contenido 4"/>
          <p:cNvSpPr>
            <a:spLocks noGrp="1"/>
          </p:cNvSpPr>
          <p:nvPr>
            <p:ph idx="1"/>
          </p:nvPr>
        </p:nvSpPr>
        <p:spPr>
          <a:xfrm>
            <a:off x="709930" y="1343025"/>
            <a:ext cx="10434955" cy="3222625"/>
          </a:xfrm>
        </p:spPr>
        <p:txBody>
          <a:bodyPr>
            <a:noAutofit/>
          </a:bodyPr>
          <a:lstStyle/>
          <a:p>
            <a:pPr algn="just"/>
            <a:r>
              <a:rPr lang="en-US" altLang="es-ES" sz="1600" dirty="0"/>
              <a:t>Plataforma administrada por MuleSoft implementada en Kubernetes o m</a:t>
            </a:r>
            <a:r>
              <a:rPr lang="en-US" altLang="en-US" sz="1600" dirty="0"/>
              <a:t>á</a:t>
            </a:r>
            <a:r>
              <a:rPr lang="en-US" altLang="es-ES" sz="1600" dirty="0"/>
              <a:t>quinas virtuales.</a:t>
            </a:r>
            <a:endParaRPr lang="en-US" altLang="es-ES" sz="1600" dirty="0"/>
          </a:p>
          <a:p>
            <a:pPr algn="just"/>
            <a:r>
              <a:rPr lang="en-US" altLang="es-ES" sz="1600" dirty="0"/>
              <a:t>Combina la flexibilidad de la nube con el control local.</a:t>
            </a:r>
            <a:endParaRPr lang="en-US" altLang="es-ES" sz="1600" dirty="0"/>
          </a:p>
          <a:p>
            <a:pPr algn="just"/>
            <a:r>
              <a:rPr lang="en-US" altLang="es-ES" sz="1600" dirty="0"/>
              <a:t>Admite implementaci</a:t>
            </a:r>
            <a:r>
              <a:rPr lang="en-US" altLang="en-US" sz="1600" dirty="0"/>
              <a:t>ó</a:t>
            </a:r>
            <a:r>
              <a:rPr lang="en-US" altLang="es-ES" sz="1600" dirty="0"/>
              <a:t>n en contenedores, balanceo de carga y aislamiento de recursos.</a:t>
            </a:r>
            <a:endParaRPr lang="en-US" altLang="es-ES" sz="1600" dirty="0"/>
          </a:p>
          <a:p>
            <a:pPr algn="just"/>
            <a:r>
              <a:rPr lang="en-US" altLang="es-ES" sz="1600" dirty="0"/>
              <a:t>Cu</a:t>
            </a:r>
            <a:r>
              <a:rPr lang="en-US" altLang="en-US" sz="1600" dirty="0"/>
              <a:t>á</a:t>
            </a:r>
            <a:r>
              <a:rPr lang="en-US" altLang="es-ES" sz="1600" dirty="0"/>
              <a:t>ndo usarla: Para entornos h</a:t>
            </a:r>
            <a:r>
              <a:rPr lang="en-US" altLang="en-US" sz="1600" dirty="0"/>
              <a:t>í</a:t>
            </a:r>
            <a:r>
              <a:rPr lang="en-US" altLang="es-ES" sz="1600" dirty="0"/>
              <a:t>bridos empresariales con recursos en la nube y locales.</a:t>
            </a:r>
            <a:endParaRPr lang="en-US" altLang="es-ES" sz="1600" dirty="0"/>
          </a:p>
        </p:txBody>
      </p:sp>
    </p:spTree>
  </p:cSld>
  <p:clrMapOvr>
    <a:masterClrMapping/>
  </p:clrMapOvr>
</p:sld>
</file>

<file path=ppt/theme/theme1.xml><?xml version="1.0" encoding="utf-8"?>
<a:theme xmlns:a="http://schemas.openxmlformats.org/drawingml/2006/main" name="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8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9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0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1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2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3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4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5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6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7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8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29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0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1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2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3_Tema de Office">
  <a:themeElements>
    <a:clrScheme name="XSync">
      <a:dk1>
        <a:srgbClr val="FEFFFF"/>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20139</Words>
  <Application>WPS Presentation</Application>
  <PresentationFormat>Panorámica</PresentationFormat>
  <Paragraphs>700</Paragraphs>
  <Slides>44</Slides>
  <Notes>8</Notes>
  <HiddenSlides>0</HiddenSlides>
  <MMClips>0</MMClips>
  <ScaleCrop>false</ScaleCrop>
  <HeadingPairs>
    <vt:vector size="6" baseType="variant">
      <vt:variant>
        <vt:lpstr>已用的字体</vt:lpstr>
      </vt:variant>
      <vt:variant>
        <vt:i4>9</vt:i4>
      </vt:variant>
      <vt:variant>
        <vt:lpstr>主题</vt:lpstr>
      </vt:variant>
      <vt:variant>
        <vt:i4>34</vt:i4>
      </vt:variant>
      <vt:variant>
        <vt:lpstr>幻灯片标题</vt:lpstr>
      </vt:variant>
      <vt:variant>
        <vt:i4>44</vt:i4>
      </vt:variant>
    </vt:vector>
  </HeadingPairs>
  <TitlesOfParts>
    <vt:vector size="87" baseType="lpstr">
      <vt:lpstr>Arial</vt:lpstr>
      <vt:lpstr>SimSun</vt:lpstr>
      <vt:lpstr>Wingdings</vt:lpstr>
      <vt:lpstr>Aptos</vt:lpstr>
      <vt:lpstr>Segoe UI</vt:lpstr>
      <vt:lpstr>Aptos Display</vt:lpstr>
      <vt:lpstr>Segoe UI Variable Display</vt:lpstr>
      <vt:lpstr>Microsoft YaHei</vt:lpstr>
      <vt:lpstr>Arial Unicode MS</vt:lpstr>
      <vt:lpstr>Tema de Office</vt:lpstr>
      <vt:lpstr>2_Tema de Office</vt:lpstr>
      <vt:lpstr>1_Tema de Office</vt:lpstr>
      <vt:lpstr>3_Tema de Office</vt:lpstr>
      <vt:lpstr>4_Tema de Office</vt:lpstr>
      <vt:lpstr>5_Tema de Office</vt:lpstr>
      <vt:lpstr>6_Tema de Office</vt:lpstr>
      <vt:lpstr>7_Tema de Office</vt:lpstr>
      <vt:lpstr>8_Tema de Office</vt:lpstr>
      <vt:lpstr>9_Tema de Office</vt:lpstr>
      <vt:lpstr>10_Tema de Office</vt:lpstr>
      <vt:lpstr>11_Tema de Office</vt:lpstr>
      <vt:lpstr>12_Tema de Office</vt:lpstr>
      <vt:lpstr>13_Tema de Office</vt:lpstr>
      <vt:lpstr>14_Tema de Office</vt:lpstr>
      <vt:lpstr>15_Tema de Office</vt:lpstr>
      <vt:lpstr>16_Tema de Office</vt:lpstr>
      <vt:lpstr>17_Tema de Office</vt:lpstr>
      <vt:lpstr>18_Tema de Office</vt:lpstr>
      <vt:lpstr>19_Tema de Office</vt:lpstr>
      <vt:lpstr>20_Tema de Office</vt:lpstr>
      <vt:lpstr>21_Tema de Office</vt:lpstr>
      <vt:lpstr>22_Tema de Office</vt:lpstr>
      <vt:lpstr>23_Tema de Office</vt:lpstr>
      <vt:lpstr>24_Tema de Office</vt:lpstr>
      <vt:lpstr>25_Tema de Office</vt:lpstr>
      <vt:lpstr>26_Tema de Office</vt:lpstr>
      <vt:lpstr>27_Tema de Office</vt:lpstr>
      <vt:lpstr>28_Tema de Office</vt:lpstr>
      <vt:lpstr>29_Tema de Office</vt:lpstr>
      <vt:lpstr>30_Tema de Office</vt:lpstr>
      <vt:lpstr>31_Tema de Office</vt:lpstr>
      <vt:lpstr>32_Tema de Office</vt:lpstr>
      <vt:lpstr>33_Tema de Office</vt:lpstr>
      <vt:lpstr>Guía para principiantes de MuleSoft</vt:lpstr>
      <vt:lpstr>XSync – Acerca de nosotros</vt:lpstr>
      <vt:lpstr>XSync – Acerca de nosotros</vt:lpstr>
      <vt:lpstr>XSync – Acerca de nosotros</vt:lpstr>
      <vt:lpstr>XSync – Acerca de nosotros</vt:lpstr>
      <vt:lpstr>MuleSoft – Introducción</vt:lpstr>
      <vt:lpstr>MuleSoft – Introducción</vt:lpstr>
      <vt:lpstr>MuleSoft – Introducción – Fundamentos de las APIs y la Integración</vt:lpstr>
      <vt:lpstr>MuleSoft – Introducción – REST vs SOAP</vt:lpstr>
      <vt:lpstr>MuleSoft – Introducción – Fundamentos HTTP</vt:lpstr>
      <vt:lpstr>MuleSoft – Introducción – Solicitud y Respuesta</vt:lpstr>
      <vt:lpstr>MuleSoft – Introducción – Mejores Prácticas de Restful</vt:lpstr>
      <vt:lpstr>MuleSoft – API-led Connectivity</vt:lpstr>
      <vt:lpstr>MuleSoft – API-led Connectivity</vt:lpstr>
      <vt:lpstr>MuleSoft – API-led Connectivity – Las Tres Capas</vt:lpstr>
      <vt:lpstr>MuleSoft – API-led Connectivity – Capa de Sistemas</vt:lpstr>
      <vt:lpstr>MuleSoft – API-led Connectivity – Capa de Procesos</vt:lpstr>
      <vt:lpstr>MuleSoft – API-led Connectivity – Capa de Experiencia</vt:lpstr>
      <vt:lpstr>MuleSoft – API-led Connectivity – Beneficios</vt:lpstr>
      <vt:lpstr>MuleSoft – API-led Connectivity – Ilustración de ejemplo</vt:lpstr>
      <vt:lpstr>MuleSoft – API-led Connectivity – Enfoque de Desarrollo</vt:lpstr>
      <vt:lpstr>MuleSoft – API-led Connectivity – Mejores Prácticas</vt:lpstr>
      <vt:lpstr>MuleSoft – Anypoint Platform</vt:lpstr>
      <vt:lpstr>MuleSoft – Anypoint Platform</vt:lpstr>
      <vt:lpstr>MuleSoft – Anypoint Platform – Ciclo de Vida</vt:lpstr>
      <vt:lpstr>MuleSoft – Anypoint Platform – Diseño de APIs con RAML</vt:lpstr>
      <vt:lpstr>MuleSoft – Anypoint Platform – Estructura de archivos RAML</vt:lpstr>
      <vt:lpstr>MuleSoft – Anypoint Platform – Diseño de APIs con RAML</vt:lpstr>
      <vt:lpstr>MuleSoft – Anypoint Platform – Eventos y mensajes de Mule</vt:lpstr>
      <vt:lpstr>MuleSoft – Anypoint Platform – Eventos y mensajes de Mule</vt:lpstr>
      <vt:lpstr>MuleSoft – Anypoint Platform – Eventos y mensajes de Mule</vt:lpstr>
      <vt:lpstr>MuleSoft – </vt:lpstr>
      <vt:lpstr>MuleSoft – Anypoint Platform – Eventos y mensajes de Mule</vt:lpstr>
      <vt:lpstr>MuleSoft – Anypoint Platform – Eventos y mensajes de Mule</vt:lpstr>
      <vt:lpstr>MuleSoft – Construyendo Aplicaciones – Entendiendo Flujos en Mule</vt:lpstr>
      <vt:lpstr>MuleSoft – Construyendo Aplicaciones – Trabajando con Dataweave</vt:lpstr>
      <vt:lpstr>MuleSoft – Construyendo Aplicaciones</vt:lpstr>
      <vt:lpstr>MuleSoft – Construyendo Aplicaciones – Manejo de Errores</vt:lpstr>
      <vt:lpstr>MuleSoft – Construyendo Aplicaciones – Manejo de Errores</vt:lpstr>
      <vt:lpstr>MuleSoft – Construyendo Aplicaciones </vt:lpstr>
      <vt:lpstr>MuleSoft – Construyendo Aplicaciones – Global vs Local Error Handling</vt:lpstr>
      <vt:lpstr>MuleSoft – Desplegando Aplicaciones</vt:lpstr>
      <vt:lpstr>MuleSoft – Desplegando Aplicaciones – CloudHub</vt:lpstr>
      <vt:lpstr>MuleSoft – Desplegando Aplicaciones – On-Premises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Josymar Garcia Acevedo</dc:creator>
  <cp:lastModifiedBy>romel herrera</cp:lastModifiedBy>
  <cp:revision>41</cp:revision>
  <dcterms:created xsi:type="dcterms:W3CDTF">2025-07-07T16:45:00Z</dcterms:created>
  <dcterms:modified xsi:type="dcterms:W3CDTF">2025-08-07T00:08:58Z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5145ABDA70AE4B3B84B0562502F3CBB8_12</vt:lpwstr>
  </property>
  <property fmtid="{D5CDD505-2E9C-101B-9397-08002B2CF9AE}" pid="3" name="KSOProductBuildVer">
    <vt:lpwstr>3082-12.2.0.21931</vt:lpwstr>
  </property>
</Properties>
</file>